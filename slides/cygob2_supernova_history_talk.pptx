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15-20 min. Aim: the ledger is the measurement; the PeVatron verdict is one application of it. Do not oversell the verdict.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up: the field argues about which engine. Härer et al. 2025 argue for a supernova ~50 kyr ago into the cavity. Every one of these depends on the SAME population property.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pivot. The talk is a measurement first; the PeVatron interpretation is one application at the end.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Emphasise: nearest laboratory where you can count the progenitors star by star instead of assuming an IMF.</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motivates the branch discipline: we carry model choices as explicit branches and never average them.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Stress the pre-registration: thresholds and predictions were frozen in JSON before the numbers were computed. Failed predictions are reported as failed.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closure test is the credibility anchor. Say clearly that we deliberately did NOT spend it to fit alpha.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dwell. One line: the membership is validated against Berlanas+19 and against control fields.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injection/recovery machinery behind completeness is the expensive part; mention it exists, move 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single most persuasive slide for a sceptic. Let it breathe.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Being open about the withdrawn result buys credibility and pre-empts the obvious referee question.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P(recent SN) = 0.55 is the number the PeVatron people care about. Note it is 7x an ignorance baseline.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take one methodological point away, this is 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genuine discovery about the system, not a caveat. It also sets up the pulsar slide.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Strongest single piece of evidence in the talk. The companion being our own star is the detail people remember.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we refuse to invent an energy probability. The framing rule was mechanical: INCONCLUSIVE.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Emphasise: we let a rule written in advance decide the framing, including against our own interest.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slide. Keep it quick.</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punchline of the new work. But immediately give the caveat on the next slide - do not oversell.</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Never let the COSI slide stand alone. This slide is what makes the forecast credible rather than promotional.</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on: this is a measurement others can build on, with every branch and every failed prediction on the record.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slides follow: systematics, pre-registration, the 26Al correction, age sensitivity.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if asked. Shows the one-way validation rule working.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F2B"/>
        </a:solidFill>
        <a:effectLst/>
      </p:bgPr>
    </p:bg>
    <p:spTree>
      <p:nvGrpSpPr>
        <p:cNvPr id="1" name=""/>
        <p:cNvGrpSpPr/>
        <p:nvPr/>
      </p:nvGrpSpPr>
      <p:grpSpPr/>
      <p:sp>
        <p:nvSpPr>
          <p:cNvPr id="2" name="TextBox 1"/>
          <p:cNvSpPr txBox="1"/>
          <p:nvPr/>
        </p:nvSpPr>
        <p:spPr>
          <a:xfrm>
            <a:off x="658368" y="1874519"/>
            <a:ext cx="10424160" cy="2377440"/>
          </a:xfrm>
          <a:prstGeom prst="rect">
            <a:avLst/>
          </a:prstGeom>
          <a:noFill/>
        </p:spPr>
        <p:txBody>
          <a:bodyPr wrap="square" anchor="t">
            <a:spAutoFit/>
          </a:bodyPr>
          <a:lstStyle/>
          <a:p>
            <a:pPr algn="l">
              <a:lnSpc>
                <a:spcPct val="100000"/>
              </a:lnSpc>
              <a:spcAft>
                <a:spcPts val="1600"/>
              </a:spcAft>
            </a:pPr>
            <a:r>
              <a:rPr sz="1300" b="1" i="0">
                <a:solidFill>
                  <a:srgbClr val="8A92A0"/>
                </a:solidFill>
                <a:latin typeface="Helvetica Neue"/>
              </a:rPr>
              <a:t>THE SUPERNOVA HISTORY OF CYGNUS OB2</a:t>
            </a:r>
          </a:p>
          <a:p>
            <a:pPr algn="l">
              <a:lnSpc>
                <a:spcPct val="100000"/>
              </a:lnSpc>
              <a:spcAft>
                <a:spcPts val="200"/>
              </a:spcAft>
            </a:pPr>
            <a:r>
              <a:rPr sz="4000" b="1" i="0">
                <a:solidFill>
                  <a:srgbClr val="FFFFFF"/>
                </a:solidFill>
                <a:latin typeface="Helvetica Neue"/>
              </a:rPr>
              <a:t>How many stars have exploded, when,</a:t>
            </a:r>
          </a:p>
          <a:p>
            <a:pPr algn="l">
              <a:lnSpc>
                <a:spcPct val="100000"/>
              </a:lnSpc>
              <a:spcAft>
                <a:spcPts val="1800"/>
              </a:spcAft>
            </a:pPr>
            <a:r>
              <a:rPr sz="4000" b="1" i="0">
                <a:solidFill>
                  <a:srgbClr val="FFFFFF"/>
                </a:solidFill>
                <a:latin typeface="Helvetica Neue"/>
              </a:rPr>
              <a:t>and what that means for the Cygnus PeVatron</a:t>
            </a:r>
          </a:p>
          <a:p>
            <a:pPr algn="l">
              <a:lnSpc>
                <a:spcPct val="100000"/>
              </a:lnSpc>
              <a:spcAft>
                <a:spcPts val="0"/>
              </a:spcAft>
            </a:pPr>
            <a:r>
              <a:rPr sz="1650" b="0" i="1">
                <a:solidFill>
                  <a:srgbClr val="9FB4CE"/>
                </a:solidFill>
                <a:latin typeface="Helvetica Neue"/>
              </a:rPr>
              <a:t>A probabilistic ledger of massive-star deaths from a homogeneous Gaia DR3 census</a:t>
            </a:r>
          </a:p>
        </p:txBody>
      </p:sp>
      <p:sp>
        <p:nvSpPr>
          <p:cNvPr id="3" name="TextBox 2"/>
          <p:cNvSpPr txBox="1"/>
          <p:nvPr/>
        </p:nvSpPr>
        <p:spPr>
          <a:xfrm>
            <a:off x="658368" y="5257800"/>
            <a:ext cx="10424160" cy="914400"/>
          </a:xfrm>
          <a:prstGeom prst="rect">
            <a:avLst/>
          </a:prstGeom>
          <a:noFill/>
        </p:spPr>
        <p:txBody>
          <a:bodyPr wrap="square" anchor="t">
            <a:spAutoFit/>
          </a:bodyPr>
          <a:lstStyle/>
          <a:p>
            <a:pPr algn="l">
              <a:lnSpc>
                <a:spcPct val="100000"/>
              </a:lnSpc>
              <a:spcAft>
                <a:spcPts val="400"/>
              </a:spcAft>
            </a:pPr>
            <a:r>
              <a:rPr sz="1700" b="1" i="0">
                <a:solidFill>
                  <a:srgbClr val="FFFFFF"/>
                </a:solidFill>
                <a:latin typeface="Helvetica Neue"/>
              </a:rPr>
              <a:t>V. Voitsekhovskyi</a:t>
            </a:r>
          </a:p>
          <a:p>
            <a:pPr algn="l">
              <a:lnSpc>
                <a:spcPct val="100000"/>
              </a:lnSpc>
              <a:spcAft>
                <a:spcPts val="0"/>
              </a:spcAft>
            </a:pPr>
            <a:r>
              <a:rPr sz="1350" b="0" i="0">
                <a:solidFill>
                  <a:srgbClr val="8A92A0"/>
                </a:solidFill>
                <a:latin typeface="Helvetica Neue"/>
              </a:rPr>
              <a:t>Gaia DR3  ·  INTEGRAL/SPI  ·  forecast for COSI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F2B"/>
        </a:solidFill>
        <a:effectLst/>
      </p:bgPr>
    </p:bg>
    <p:spTree>
      <p:nvGrpSpPr>
        <p:cNvPr id="1" name=""/>
        <p:cNvGrpSpPr/>
        <p:nvPr/>
      </p:nvGrpSpPr>
      <p:grpSpPr/>
      <p:sp>
        <p:nvSpPr>
          <p:cNvPr id="2" name="TextBox 1"/>
          <p:cNvSpPr txBox="1"/>
          <p:nvPr/>
        </p:nvSpPr>
        <p:spPr>
          <a:xfrm>
            <a:off x="658368" y="2651760"/>
            <a:ext cx="10424160" cy="1828800"/>
          </a:xfrm>
          <a:prstGeom prst="rect">
            <a:avLst/>
          </a:prstGeom>
          <a:noFill/>
        </p:spPr>
        <p:txBody>
          <a:bodyPr wrap="square" anchor="t">
            <a:spAutoFit/>
          </a:bodyPr>
          <a:lstStyle/>
          <a:p>
            <a:pPr algn="l">
              <a:lnSpc>
                <a:spcPct val="100000"/>
              </a:lnSpc>
              <a:spcAft>
                <a:spcPts val="1400"/>
              </a:spcAft>
            </a:pPr>
            <a:r>
              <a:rPr sz="1300" b="1" i="0">
                <a:solidFill>
                  <a:srgbClr val="8A92A0"/>
                </a:solidFill>
                <a:latin typeface="Helvetica Neue"/>
              </a:rPr>
              <a:t>1</a:t>
            </a:r>
          </a:p>
          <a:p>
            <a:pPr algn="l">
              <a:lnSpc>
                <a:spcPct val="100000"/>
              </a:lnSpc>
              <a:spcAft>
                <a:spcPts val="1200"/>
              </a:spcAft>
            </a:pPr>
            <a:r>
              <a:rPr sz="4400" b="1" i="0">
                <a:solidFill>
                  <a:srgbClr val="FFFFFF"/>
                </a:solidFill>
                <a:latin typeface="Helvetica Neue"/>
              </a:rPr>
              <a:t>The puzzle</a:t>
            </a:r>
          </a:p>
          <a:p>
            <a:pPr algn="l">
              <a:lnSpc>
                <a:spcPct val="100000"/>
              </a:lnSpc>
              <a:spcAft>
                <a:spcPts val="0"/>
              </a:spcAft>
            </a:pPr>
            <a:r>
              <a:rPr sz="1700" b="0" i="0">
                <a:solidFill>
                  <a:srgbClr val="9FB4CE"/>
                </a:solidFill>
                <a:latin typeface="Helvetica Neue"/>
              </a:rPr>
              <a:t>A PeVatron in Cygnus, and five candidate engines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75488"/>
            <a:ext cx="10874959" cy="274320"/>
          </a:xfrm>
          <a:prstGeom prst="rect">
            <a:avLst/>
          </a:prstGeom>
          <a:noFill/>
        </p:spPr>
        <p:txBody>
          <a:bodyPr wrap="square" anchor="t">
            <a:spAutoFit/>
          </a:bodyPr>
          <a:lstStyle/>
          <a:p>
            <a:pPr algn="l">
              <a:lnSpc>
                <a:spcPct val="100000"/>
              </a:lnSpc>
              <a:spcAft>
                <a:spcPts val="0"/>
              </a:spcAft>
            </a:pPr>
            <a:r>
              <a:rPr sz="1250" b="1" i="0">
                <a:solidFill>
                  <a:srgbClr val="8A92A0"/>
                </a:solidFill>
                <a:latin typeface="Helvetica Neue"/>
              </a:rPr>
              <a:t>THE OBSERVATION</a:t>
            </a:r>
          </a:p>
        </p:txBody>
      </p:sp>
      <p:sp>
        <p:nvSpPr>
          <p:cNvPr id="3" name="TextBox 2"/>
          <p:cNvSpPr txBox="1"/>
          <p:nvPr/>
        </p:nvSpPr>
        <p:spPr>
          <a:xfrm>
            <a:off x="658368" y="804672"/>
            <a:ext cx="10874959" cy="822960"/>
          </a:xfrm>
          <a:prstGeom prst="rect">
            <a:avLst/>
          </a:prstGeom>
          <a:noFill/>
        </p:spPr>
        <p:txBody>
          <a:bodyPr wrap="square" anchor="t">
            <a:spAutoFit/>
          </a:bodyPr>
          <a:lstStyle/>
          <a:p>
            <a:pPr algn="l">
              <a:lnSpc>
                <a:spcPct val="95000"/>
              </a:lnSpc>
              <a:spcAft>
                <a:spcPts val="0"/>
              </a:spcAft>
            </a:pPr>
            <a:r>
              <a:rPr sz="3000" b="1" i="0">
                <a:solidFill>
                  <a:srgbClr val="1A1F2B"/>
                </a:solidFill>
                <a:latin typeface="Helvetica Neue"/>
              </a:rPr>
              <a:t>LHAASO sees a cosmic-ray PeVatron in Cygnus</a:t>
            </a:r>
          </a:p>
        </p:txBody>
      </p:sp>
      <p:sp>
        <p:nvSpPr>
          <p:cNvPr id="4" name="Rectangle 3"/>
          <p:cNvSpPr/>
          <p:nvPr/>
        </p:nvSpPr>
        <p:spPr>
          <a:xfrm>
            <a:off x="658368" y="1700784"/>
            <a:ext cx="10874959" cy="19050"/>
          </a:xfrm>
          <a:prstGeom prst="rect">
            <a:avLst/>
          </a:prstGeom>
          <a:solidFill>
            <a:srgbClr val="D8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938528"/>
            <a:ext cx="10874959" cy="4206240"/>
          </a:xfrm>
          <a:prstGeom prst="rect">
            <a:avLst/>
          </a:prstGeom>
          <a:noFill/>
        </p:spPr>
        <p:txBody>
          <a:bodyPr wrap="square" anchor="t">
            <a:spAutoFit/>
          </a:bodyPr>
          <a:lstStyle/>
          <a:p>
            <a:pPr algn="l">
              <a:lnSpc>
                <a:spcPct val="105000"/>
              </a:lnSpc>
              <a:spcAft>
                <a:spcPts val="1500"/>
              </a:spcAft>
            </a:pPr>
            <a:r>
              <a:rPr sz="1750" b="0" i="0">
                <a:solidFill>
                  <a:srgbClr val="1A1F2B"/>
                </a:solidFill>
                <a:latin typeface="Helvetica Neue"/>
              </a:rPr>
              <a:t>A γ-ray 'cocoon' around Cyg OB2, emitting above 100 TeV — protons accelerated to PeV energies.</a:t>
            </a:r>
          </a:p>
          <a:p>
            <a:pPr algn="l">
              <a:lnSpc>
                <a:spcPct val="105000"/>
              </a:lnSpc>
              <a:spcAft>
                <a:spcPts val="1500"/>
              </a:spcAft>
            </a:pPr>
            <a:r>
              <a:rPr sz="1750" b="1" i="0">
                <a:solidFill>
                  <a:srgbClr val="5A6272"/>
                </a:solidFill>
                <a:latin typeface="Helvetica Neue"/>
              </a:rPr>
              <a:t>Candidate engines all live in the same region:</a:t>
            </a:r>
          </a:p>
          <a:p>
            <a:pPr algn="l">
              <a:lnSpc>
                <a:spcPct val="105000"/>
              </a:lnSpc>
              <a:spcAft>
                <a:spcPts val="1500"/>
              </a:spcAft>
            </a:pPr>
            <a:r>
              <a:rPr sz="1750" b="0" i="0">
                <a:solidFill>
                  <a:srgbClr val="1A1F2B"/>
                </a:solidFill>
                <a:latin typeface="Helvetica Neue"/>
              </a:rPr>
              <a:t>     · collective winds of the massive-star population</a:t>
            </a:r>
          </a:p>
          <a:p>
            <a:pPr algn="l">
              <a:lnSpc>
                <a:spcPct val="105000"/>
              </a:lnSpc>
              <a:spcAft>
                <a:spcPts val="1500"/>
              </a:spcAft>
            </a:pPr>
            <a:r>
              <a:rPr sz="1750" b="1" i="0">
                <a:solidFill>
                  <a:srgbClr val="3B6EA8"/>
                </a:solidFill>
                <a:latin typeface="Helvetica Neue"/>
              </a:rPr>
              <a:t>     · a supernova exploding into the wind-blown cavity</a:t>
            </a:r>
          </a:p>
          <a:p>
            <a:pPr algn="l">
              <a:lnSpc>
                <a:spcPct val="105000"/>
              </a:lnSpc>
              <a:spcAft>
                <a:spcPts val="1500"/>
              </a:spcAft>
            </a:pPr>
            <a:r>
              <a:rPr sz="1750" b="0" i="0">
                <a:solidFill>
                  <a:srgbClr val="1A1F2B"/>
                </a:solidFill>
                <a:latin typeface="Helvetica Neue"/>
              </a:rPr>
              <a:t>     · the Cyg X-3 microquasar</a:t>
            </a:r>
          </a:p>
          <a:p>
            <a:pPr algn="l">
              <a:lnSpc>
                <a:spcPct val="105000"/>
              </a:lnSpc>
              <a:spcAft>
                <a:spcPts val="1500"/>
              </a:spcAft>
            </a:pPr>
            <a:r>
              <a:rPr sz="1750" b="0" i="0">
                <a:solidFill>
                  <a:srgbClr val="1A1F2B"/>
                </a:solidFill>
                <a:latin typeface="Helvetica Neue"/>
              </a:rPr>
              <a:t>     · the γ Cygni supernova remnant</a:t>
            </a:r>
          </a:p>
          <a:p>
            <a:pPr algn="l">
              <a:lnSpc>
                <a:spcPct val="105000"/>
              </a:lnSpc>
              <a:spcAft>
                <a:spcPts val="1500"/>
              </a:spcAft>
            </a:pPr>
            <a:r>
              <a:rPr sz="1750" b="0" i="0">
                <a:solidFill>
                  <a:srgbClr val="1A1F2B"/>
                </a:solidFill>
                <a:latin typeface="Helvetica Neue"/>
              </a:rPr>
              <a:t>     · PSR J2032+4127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2103120"/>
            <a:ext cx="10874959" cy="2560320"/>
          </a:xfrm>
          <a:prstGeom prst="rect">
            <a:avLst/>
          </a:prstGeom>
          <a:noFill/>
        </p:spPr>
        <p:txBody>
          <a:bodyPr wrap="square" anchor="t">
            <a:spAutoFit/>
          </a:bodyPr>
          <a:lstStyle/>
          <a:p>
            <a:pPr algn="l">
              <a:lnSpc>
                <a:spcPct val="100000"/>
              </a:lnSpc>
              <a:spcAft>
                <a:spcPts val="1800"/>
              </a:spcAft>
            </a:pPr>
            <a:r>
              <a:rPr sz="1250" b="1" i="0">
                <a:solidFill>
                  <a:srgbClr val="8A92A0"/>
                </a:solidFill>
                <a:latin typeface="Helvetica Neue"/>
              </a:rPr>
              <a:t>THE GAP</a:t>
            </a:r>
          </a:p>
          <a:p>
            <a:pPr algn="l">
              <a:lnSpc>
                <a:spcPct val="102000"/>
              </a:lnSpc>
              <a:spcAft>
                <a:spcPts val="2000"/>
              </a:spcAft>
            </a:pPr>
            <a:r>
              <a:rPr sz="3800" b="1" i="0">
                <a:solidFill>
                  <a:srgbClr val="1A1F2B"/>
                </a:solidFill>
                <a:latin typeface="Helvetica Neue"/>
              </a:rPr>
              <a:t>Every candidate engine depends on one number nobody had measured: how many supernovae Cyg OB2 has actually produced, and when.</a:t>
            </a:r>
          </a:p>
          <a:p>
            <a:pPr algn="l">
              <a:lnSpc>
                <a:spcPct val="115000"/>
              </a:lnSpc>
              <a:spcAft>
                <a:spcPts val="0"/>
              </a:spcAft>
            </a:pPr>
            <a:r>
              <a:rPr sz="1800" b="0" i="0">
                <a:solidFill>
                  <a:srgbClr val="1A1F2B"/>
                </a:solidFill>
                <a:latin typeface="Helvetica Neue"/>
              </a:rPr>
              <a:t>Wind power, cavity structure, remnant population, pulsar birth — all of them are set by the association's death history. That history is a MEASUREMENT problem, and it is the subject of this talk.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F2B"/>
        </a:solidFill>
        <a:effectLst/>
      </p:bgPr>
    </p:bg>
    <p:spTree>
      <p:nvGrpSpPr>
        <p:cNvPr id="1" name=""/>
        <p:cNvGrpSpPr/>
        <p:nvPr/>
      </p:nvGrpSpPr>
      <p:grpSpPr/>
      <p:sp>
        <p:nvSpPr>
          <p:cNvPr id="2" name="TextBox 1"/>
          <p:cNvSpPr txBox="1"/>
          <p:nvPr/>
        </p:nvSpPr>
        <p:spPr>
          <a:xfrm>
            <a:off x="658368" y="2651760"/>
            <a:ext cx="10424160" cy="1828800"/>
          </a:xfrm>
          <a:prstGeom prst="rect">
            <a:avLst/>
          </a:prstGeom>
          <a:noFill/>
        </p:spPr>
        <p:txBody>
          <a:bodyPr wrap="square" anchor="t">
            <a:spAutoFit/>
          </a:bodyPr>
          <a:lstStyle/>
          <a:p>
            <a:pPr algn="l">
              <a:lnSpc>
                <a:spcPct val="100000"/>
              </a:lnSpc>
              <a:spcAft>
                <a:spcPts val="1400"/>
              </a:spcAft>
            </a:pPr>
            <a:r>
              <a:rPr sz="1300" b="1" i="0">
                <a:solidFill>
                  <a:srgbClr val="8A92A0"/>
                </a:solidFill>
                <a:latin typeface="Helvetica Neue"/>
              </a:rPr>
              <a:t>2</a:t>
            </a:r>
          </a:p>
          <a:p>
            <a:pPr algn="l">
              <a:lnSpc>
                <a:spcPct val="100000"/>
              </a:lnSpc>
              <a:spcAft>
                <a:spcPts val="1200"/>
              </a:spcAft>
            </a:pPr>
            <a:r>
              <a:rPr sz="4400" b="1" i="0">
                <a:solidFill>
                  <a:srgbClr val="FFFFFF"/>
                </a:solidFill>
                <a:latin typeface="Helvetica Neue"/>
              </a:rPr>
              <a:t>Cygnus OB2</a:t>
            </a:r>
          </a:p>
          <a:p>
            <a:pPr algn="l">
              <a:lnSpc>
                <a:spcPct val="100000"/>
              </a:lnSpc>
              <a:spcAft>
                <a:spcPts val="0"/>
              </a:spcAft>
            </a:pPr>
            <a:r>
              <a:rPr sz="1700" b="0" i="0">
                <a:solidFill>
                  <a:srgbClr val="9FB4CE"/>
                </a:solidFill>
                <a:latin typeface="Helvetica Neue"/>
              </a:rPr>
              <a:t>The best target in the Galaxy, and why it is hard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75488"/>
            <a:ext cx="10874959" cy="274320"/>
          </a:xfrm>
          <a:prstGeom prst="rect">
            <a:avLst/>
          </a:prstGeom>
          <a:noFill/>
        </p:spPr>
        <p:txBody>
          <a:bodyPr wrap="square" anchor="t">
            <a:spAutoFit/>
          </a:bodyPr>
          <a:lstStyle/>
          <a:p>
            <a:pPr algn="l">
              <a:lnSpc>
                <a:spcPct val="100000"/>
              </a:lnSpc>
              <a:spcAft>
                <a:spcPts val="0"/>
              </a:spcAft>
            </a:pPr>
            <a:r>
              <a:rPr sz="1250" b="1" i="0">
                <a:solidFill>
                  <a:srgbClr val="8A92A0"/>
                </a:solidFill>
                <a:latin typeface="Helvetica Neue"/>
              </a:rPr>
              <a:t>WHAT WE ARE LOOKING AT</a:t>
            </a:r>
          </a:p>
        </p:txBody>
      </p:sp>
      <p:sp>
        <p:nvSpPr>
          <p:cNvPr id="3" name="TextBox 2"/>
          <p:cNvSpPr txBox="1"/>
          <p:nvPr/>
        </p:nvSpPr>
        <p:spPr>
          <a:xfrm>
            <a:off x="658368" y="804672"/>
            <a:ext cx="10874959" cy="822960"/>
          </a:xfrm>
          <a:prstGeom prst="rect">
            <a:avLst/>
          </a:prstGeom>
          <a:noFill/>
        </p:spPr>
        <p:txBody>
          <a:bodyPr wrap="square" anchor="t">
            <a:spAutoFit/>
          </a:bodyPr>
          <a:lstStyle/>
          <a:p>
            <a:pPr algn="l">
              <a:lnSpc>
                <a:spcPct val="95000"/>
              </a:lnSpc>
              <a:spcAft>
                <a:spcPts val="0"/>
              </a:spcAft>
            </a:pPr>
            <a:r>
              <a:rPr sz="3000" b="1" i="0">
                <a:solidFill>
                  <a:srgbClr val="1A1F2B"/>
                </a:solidFill>
                <a:latin typeface="Helvetica Neue"/>
              </a:rPr>
              <a:t>Cygnus OB2 — the target</a:t>
            </a:r>
          </a:p>
        </p:txBody>
      </p:sp>
      <p:sp>
        <p:nvSpPr>
          <p:cNvPr id="4" name="Rectangle 3"/>
          <p:cNvSpPr/>
          <p:nvPr/>
        </p:nvSpPr>
        <p:spPr>
          <a:xfrm>
            <a:off x="658368" y="1700784"/>
            <a:ext cx="10874959" cy="19050"/>
          </a:xfrm>
          <a:prstGeom prst="rect">
            <a:avLst/>
          </a:prstGeom>
          <a:solidFill>
            <a:srgbClr val="D8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2258568"/>
            <a:ext cx="2485567" cy="2377440"/>
          </a:xfrm>
          <a:prstGeom prst="rect">
            <a:avLst/>
          </a:prstGeom>
          <a:noFill/>
        </p:spPr>
        <p:txBody>
          <a:bodyPr wrap="square" anchor="t">
            <a:spAutoFit/>
          </a:bodyPr>
          <a:lstStyle/>
          <a:p>
            <a:pPr algn="ctr">
              <a:lnSpc>
                <a:spcPct val="95000"/>
              </a:lnSpc>
              <a:spcAft>
                <a:spcPts val="1000"/>
              </a:spcAft>
            </a:pPr>
            <a:r>
              <a:rPr sz="3163" b="1" i="0">
                <a:solidFill>
                  <a:srgbClr val="3B6EA8"/>
                </a:solidFill>
                <a:latin typeface="Helvetica Neue"/>
              </a:rPr>
              <a:t>1.62</a:t>
            </a:r>
          </a:p>
          <a:p>
            <a:pPr algn="ctr">
              <a:lnSpc>
                <a:spcPct val="110000"/>
              </a:lnSpc>
              <a:spcAft>
                <a:spcPts val="0"/>
              </a:spcAft>
            </a:pPr>
            <a:r>
              <a:rPr sz="1450" b="0" i="0">
                <a:solidFill>
                  <a:srgbClr val="5A6272"/>
                </a:solidFill>
                <a:latin typeface="Helvetica Neue"/>
              </a:rPr>
              <a:t>kpc</a:t>
            </a:r>
          </a:p>
          <a:p>
            <a:pPr algn="ctr">
              <a:lnSpc>
                <a:spcPct val="110000"/>
              </a:lnSpc>
              <a:spcAft>
                <a:spcPts val="0"/>
              </a:spcAft>
            </a:pPr>
            <a:r>
              <a:rPr sz="1450" b="0" i="0">
                <a:solidFill>
                  <a:srgbClr val="5A6272"/>
                </a:solidFill>
                <a:latin typeface="Helvetica Neue"/>
              </a:rPr>
              <a:t>distance</a:t>
            </a:r>
          </a:p>
        </p:txBody>
      </p:sp>
      <p:sp>
        <p:nvSpPr>
          <p:cNvPr id="6" name="TextBox 5"/>
          <p:cNvSpPr txBox="1"/>
          <p:nvPr/>
        </p:nvSpPr>
        <p:spPr>
          <a:xfrm>
            <a:off x="3454831" y="2258568"/>
            <a:ext cx="2485567" cy="2377440"/>
          </a:xfrm>
          <a:prstGeom prst="rect">
            <a:avLst/>
          </a:prstGeom>
          <a:noFill/>
        </p:spPr>
        <p:txBody>
          <a:bodyPr wrap="square" anchor="t">
            <a:spAutoFit/>
          </a:bodyPr>
          <a:lstStyle/>
          <a:p>
            <a:pPr algn="ctr">
              <a:lnSpc>
                <a:spcPct val="95000"/>
              </a:lnSpc>
              <a:spcAft>
                <a:spcPts val="1000"/>
              </a:spcAft>
            </a:pPr>
            <a:r>
              <a:rPr sz="3163" b="1" i="0">
                <a:solidFill>
                  <a:srgbClr val="1A1F2B"/>
                </a:solidFill>
                <a:latin typeface="Helvetica Neue"/>
              </a:rPr>
              <a:t>1,392</a:t>
            </a:r>
          </a:p>
          <a:p>
            <a:pPr algn="ctr">
              <a:lnSpc>
                <a:spcPct val="110000"/>
              </a:lnSpc>
              <a:spcAft>
                <a:spcPts val="0"/>
              </a:spcAft>
            </a:pPr>
            <a:r>
              <a:rPr sz="1450" b="0" i="0">
                <a:solidFill>
                  <a:srgbClr val="5A6272"/>
                </a:solidFill>
                <a:latin typeface="Helvetica Neue"/>
              </a:rPr>
              <a:t>members</a:t>
            </a:r>
          </a:p>
          <a:p>
            <a:pPr algn="ctr">
              <a:lnSpc>
                <a:spcPct val="110000"/>
              </a:lnSpc>
              <a:spcAft>
                <a:spcPts val="0"/>
              </a:spcAft>
            </a:pPr>
            <a:r>
              <a:rPr sz="1450" b="0" i="0">
                <a:solidFill>
                  <a:srgbClr val="5A6272"/>
                </a:solidFill>
                <a:latin typeface="Helvetica Neue"/>
              </a:rPr>
              <a:t>at P &gt; 0.5</a:t>
            </a:r>
          </a:p>
        </p:txBody>
      </p:sp>
      <p:sp>
        <p:nvSpPr>
          <p:cNvPr id="7" name="TextBox 6"/>
          <p:cNvSpPr txBox="1"/>
          <p:nvPr/>
        </p:nvSpPr>
        <p:spPr>
          <a:xfrm>
            <a:off x="6251294" y="2258568"/>
            <a:ext cx="2485567" cy="2377440"/>
          </a:xfrm>
          <a:prstGeom prst="rect">
            <a:avLst/>
          </a:prstGeom>
          <a:noFill/>
        </p:spPr>
        <p:txBody>
          <a:bodyPr wrap="square" anchor="t">
            <a:spAutoFit/>
          </a:bodyPr>
          <a:lstStyle/>
          <a:p>
            <a:pPr algn="ctr">
              <a:lnSpc>
                <a:spcPct val="95000"/>
              </a:lnSpc>
              <a:spcAft>
                <a:spcPts val="1000"/>
              </a:spcAft>
            </a:pPr>
            <a:r>
              <a:rPr sz="3163" b="1" i="0">
                <a:solidFill>
                  <a:srgbClr val="1A1F2B"/>
                </a:solidFill>
                <a:latin typeface="Helvetica Neue"/>
              </a:rPr>
              <a:t>2.92</a:t>
            </a:r>
          </a:p>
          <a:p>
            <a:pPr algn="ctr">
              <a:lnSpc>
                <a:spcPct val="110000"/>
              </a:lnSpc>
              <a:spcAft>
                <a:spcPts val="0"/>
              </a:spcAft>
            </a:pPr>
            <a:r>
              <a:rPr sz="1450" b="0" i="0">
                <a:solidFill>
                  <a:srgbClr val="5A6272"/>
                </a:solidFill>
                <a:latin typeface="Helvetica Neue"/>
              </a:rPr>
              <a:t>×10⁴ M⊙</a:t>
            </a:r>
          </a:p>
          <a:p>
            <a:pPr algn="ctr">
              <a:lnSpc>
                <a:spcPct val="110000"/>
              </a:lnSpc>
              <a:spcAft>
                <a:spcPts val="0"/>
              </a:spcAft>
            </a:pPr>
            <a:r>
              <a:rPr sz="1450" b="0" i="0">
                <a:solidFill>
                  <a:srgbClr val="5A6272"/>
                </a:solidFill>
                <a:latin typeface="Helvetica Neue"/>
              </a:rPr>
              <a:t>stellar mass</a:t>
            </a:r>
          </a:p>
        </p:txBody>
      </p:sp>
      <p:sp>
        <p:nvSpPr>
          <p:cNvPr id="8" name="TextBox 7"/>
          <p:cNvSpPr txBox="1"/>
          <p:nvPr/>
        </p:nvSpPr>
        <p:spPr>
          <a:xfrm>
            <a:off x="9047757" y="2258568"/>
            <a:ext cx="2485567" cy="2377440"/>
          </a:xfrm>
          <a:prstGeom prst="rect">
            <a:avLst/>
          </a:prstGeom>
          <a:noFill/>
        </p:spPr>
        <p:txBody>
          <a:bodyPr wrap="square" anchor="t">
            <a:spAutoFit/>
          </a:bodyPr>
          <a:lstStyle/>
          <a:p>
            <a:pPr algn="ctr">
              <a:lnSpc>
                <a:spcPct val="95000"/>
              </a:lnSpc>
              <a:spcAft>
                <a:spcPts val="1000"/>
              </a:spcAft>
            </a:pPr>
            <a:r>
              <a:rPr sz="3163" b="1" i="0">
                <a:solidFill>
                  <a:srgbClr val="C4622D"/>
                </a:solidFill>
                <a:latin typeface="Helvetica Neue"/>
              </a:rPr>
              <a:t>2.52–4.09</a:t>
            </a:r>
          </a:p>
          <a:p>
            <a:pPr algn="ctr">
              <a:lnSpc>
                <a:spcPct val="110000"/>
              </a:lnSpc>
              <a:spcAft>
                <a:spcPts val="0"/>
              </a:spcAft>
            </a:pPr>
            <a:r>
              <a:rPr sz="1450" b="0" i="0">
                <a:solidFill>
                  <a:srgbClr val="5A6272"/>
                </a:solidFill>
                <a:latin typeface="Helvetica Neue"/>
              </a:rPr>
              <a:t>Myr</a:t>
            </a:r>
          </a:p>
          <a:p>
            <a:pPr algn="ctr">
              <a:lnSpc>
                <a:spcPct val="110000"/>
              </a:lnSpc>
              <a:spcAft>
                <a:spcPts val="0"/>
              </a:spcAft>
            </a:pPr>
            <a:r>
              <a:rPr sz="1450" b="0" i="0">
                <a:solidFill>
                  <a:srgbClr val="5A6272"/>
                </a:solidFill>
                <a:latin typeface="Helvetica Neue"/>
              </a:rPr>
              <a:t>subgroup ages</a:t>
            </a:r>
          </a:p>
        </p:txBody>
      </p:sp>
      <p:sp>
        <p:nvSpPr>
          <p:cNvPr id="9" name="TextBox 8"/>
          <p:cNvSpPr txBox="1"/>
          <p:nvPr/>
        </p:nvSpPr>
        <p:spPr>
          <a:xfrm>
            <a:off x="658368" y="5257800"/>
            <a:ext cx="10874959" cy="1005840"/>
          </a:xfrm>
          <a:prstGeom prst="rect">
            <a:avLst/>
          </a:prstGeom>
          <a:noFill/>
        </p:spPr>
        <p:txBody>
          <a:bodyPr wrap="square" anchor="t">
            <a:spAutoFit/>
          </a:bodyPr>
          <a:lstStyle/>
          <a:p>
            <a:pPr algn="l">
              <a:lnSpc>
                <a:spcPct val="110000"/>
              </a:lnSpc>
              <a:spcAft>
                <a:spcPts val="0"/>
              </a:spcAft>
            </a:pPr>
            <a:r>
              <a:rPr sz="1600" b="0" i="0">
                <a:solidFill>
                  <a:srgbClr val="1A1F2B"/>
                </a:solidFill>
                <a:latin typeface="Helvetica Neue"/>
              </a:rPr>
              <a:t>Young enough that the first supernovae have only just begun, close enough for Gaia to resolve individual stars, and massive enough that the statistics are meaningful. Three kinematic subgroups (A, B, C) — the association is not coeval.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75488"/>
            <a:ext cx="10874959" cy="274320"/>
          </a:xfrm>
          <a:prstGeom prst="rect">
            <a:avLst/>
          </a:prstGeom>
          <a:noFill/>
        </p:spPr>
        <p:txBody>
          <a:bodyPr wrap="square" anchor="t">
            <a:spAutoFit/>
          </a:bodyPr>
          <a:lstStyle/>
          <a:p>
            <a:pPr algn="l">
              <a:lnSpc>
                <a:spcPct val="100000"/>
              </a:lnSpc>
              <a:spcAft>
                <a:spcPts val="0"/>
              </a:spcAft>
            </a:pPr>
            <a:r>
              <a:rPr sz="1250" b="1" i="0">
                <a:solidFill>
                  <a:srgbClr val="8A92A0"/>
                </a:solidFill>
                <a:latin typeface="Helvetica Neue"/>
              </a:rPr>
              <a:t>THE DIFFICULTY</a:t>
            </a:r>
          </a:p>
        </p:txBody>
      </p:sp>
      <p:sp>
        <p:nvSpPr>
          <p:cNvPr id="3" name="TextBox 2"/>
          <p:cNvSpPr txBox="1"/>
          <p:nvPr/>
        </p:nvSpPr>
        <p:spPr>
          <a:xfrm>
            <a:off x="658368" y="804672"/>
            <a:ext cx="10874959" cy="822960"/>
          </a:xfrm>
          <a:prstGeom prst="rect">
            <a:avLst/>
          </a:prstGeom>
          <a:noFill/>
        </p:spPr>
        <p:txBody>
          <a:bodyPr wrap="square" anchor="t">
            <a:spAutoFit/>
          </a:bodyPr>
          <a:lstStyle/>
          <a:p>
            <a:pPr algn="l">
              <a:lnSpc>
                <a:spcPct val="95000"/>
              </a:lnSpc>
              <a:spcAft>
                <a:spcPts val="0"/>
              </a:spcAft>
            </a:pPr>
            <a:r>
              <a:rPr sz="3000" b="1" i="0">
                <a:solidFill>
                  <a:srgbClr val="1A1F2B"/>
                </a:solidFill>
                <a:latin typeface="Helvetica Neue"/>
              </a:rPr>
              <a:t>Why this has not been settled before</a:t>
            </a:r>
          </a:p>
        </p:txBody>
      </p:sp>
      <p:sp>
        <p:nvSpPr>
          <p:cNvPr id="4" name="Rectangle 3"/>
          <p:cNvSpPr/>
          <p:nvPr/>
        </p:nvSpPr>
        <p:spPr>
          <a:xfrm>
            <a:off x="658368" y="1700784"/>
            <a:ext cx="10874959" cy="19050"/>
          </a:xfrm>
          <a:prstGeom prst="rect">
            <a:avLst/>
          </a:prstGeom>
          <a:solidFill>
            <a:srgbClr val="D8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938528"/>
            <a:ext cx="10874959" cy="4206240"/>
          </a:xfrm>
          <a:prstGeom prst="rect">
            <a:avLst/>
          </a:prstGeom>
          <a:noFill/>
        </p:spPr>
        <p:txBody>
          <a:bodyPr wrap="square" anchor="t">
            <a:spAutoFit/>
          </a:bodyPr>
          <a:lstStyle/>
          <a:p>
            <a:pPr algn="l">
              <a:lnSpc>
                <a:spcPct val="105000"/>
              </a:lnSpc>
              <a:spcAft>
                <a:spcPts val="1500"/>
              </a:spcAft>
            </a:pPr>
            <a:r>
              <a:rPr sz="1750" b="0" i="0">
                <a:solidFill>
                  <a:srgbClr val="1A1F2B"/>
                </a:solidFill>
                <a:latin typeface="Helvetica Neue"/>
              </a:rPr>
              <a:t>Extinction is severe and patchy — A_V ≈ 6 mag, varying star to star across the field.</a:t>
            </a:r>
          </a:p>
          <a:p>
            <a:pPr algn="l">
              <a:lnSpc>
                <a:spcPct val="105000"/>
              </a:lnSpc>
              <a:spcAft>
                <a:spcPts val="1500"/>
              </a:spcAft>
            </a:pPr>
            <a:r>
              <a:rPr sz="1750" b="1" i="0">
                <a:solidFill>
                  <a:srgbClr val="C4622D"/>
                </a:solidFill>
                <a:latin typeface="Helvetica Neue"/>
              </a:rPr>
              <a:t>The stars that matter have already died. You must infer the dead from the living, through an IMF.</a:t>
            </a:r>
          </a:p>
          <a:p>
            <a:pPr algn="l">
              <a:lnSpc>
                <a:spcPct val="105000"/>
              </a:lnSpc>
              <a:spcAft>
                <a:spcPts val="1500"/>
              </a:spcAft>
            </a:pPr>
            <a:r>
              <a:rPr sz="1750" b="0" i="0">
                <a:solidFill>
                  <a:srgbClr val="1A1F2B"/>
                </a:solidFill>
                <a:latin typeface="Helvetica Neue"/>
              </a:rPr>
              <a:t>Every step carries a model choice: isochrones, extinction law, IMF slope, explodability, star-formation duration.</a:t>
            </a:r>
          </a:p>
          <a:p>
            <a:pPr algn="l">
              <a:lnSpc>
                <a:spcPct val="105000"/>
              </a:lnSpc>
              <a:spcAft>
                <a:spcPts val="1500"/>
              </a:spcAft>
            </a:pPr>
            <a:r>
              <a:rPr sz="1750" b="0" i="0">
                <a:solidFill>
                  <a:srgbClr val="1A1F2B"/>
                </a:solidFill>
                <a:latin typeface="Helvetica Neue"/>
              </a:rPr>
              <a:t>Those choices are not decorative — they move the answer by more than an order of magnitude.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75488"/>
            <a:ext cx="10874959" cy="274320"/>
          </a:xfrm>
          <a:prstGeom prst="rect">
            <a:avLst/>
          </a:prstGeom>
          <a:noFill/>
        </p:spPr>
        <p:txBody>
          <a:bodyPr wrap="square" anchor="t">
            <a:spAutoFit/>
          </a:bodyPr>
          <a:lstStyle/>
          <a:p>
            <a:pPr algn="l">
              <a:lnSpc>
                <a:spcPct val="100000"/>
              </a:lnSpc>
              <a:spcAft>
                <a:spcPts val="0"/>
              </a:spcAft>
            </a:pPr>
            <a:r>
              <a:rPr sz="1250" b="1" i="0">
                <a:solidFill>
                  <a:srgbClr val="8A92A0"/>
                </a:solidFill>
                <a:latin typeface="Helvetica Neue"/>
              </a:rPr>
              <a:t>SCOPE</a:t>
            </a:r>
          </a:p>
        </p:txBody>
      </p:sp>
      <p:sp>
        <p:nvSpPr>
          <p:cNvPr id="3" name="TextBox 2"/>
          <p:cNvSpPr txBox="1"/>
          <p:nvPr/>
        </p:nvSpPr>
        <p:spPr>
          <a:xfrm>
            <a:off x="658368" y="804672"/>
            <a:ext cx="10874959" cy="822960"/>
          </a:xfrm>
          <a:prstGeom prst="rect">
            <a:avLst/>
          </a:prstGeom>
          <a:noFill/>
        </p:spPr>
        <p:txBody>
          <a:bodyPr wrap="square" anchor="t">
            <a:spAutoFit/>
          </a:bodyPr>
          <a:lstStyle/>
          <a:p>
            <a:pPr algn="l">
              <a:lnSpc>
                <a:spcPct val="95000"/>
              </a:lnSpc>
              <a:spcAft>
                <a:spcPts val="0"/>
              </a:spcAft>
            </a:pPr>
            <a:r>
              <a:rPr sz="3000" b="1" i="0">
                <a:solidFill>
                  <a:srgbClr val="1A1F2B"/>
                </a:solidFill>
                <a:latin typeface="Helvetica Neue"/>
              </a:rPr>
              <a:t>The questions this work answers</a:t>
            </a:r>
          </a:p>
        </p:txBody>
      </p:sp>
      <p:sp>
        <p:nvSpPr>
          <p:cNvPr id="4" name="Rectangle 3"/>
          <p:cNvSpPr/>
          <p:nvPr/>
        </p:nvSpPr>
        <p:spPr>
          <a:xfrm>
            <a:off x="658368" y="1700784"/>
            <a:ext cx="10874959" cy="19050"/>
          </a:xfrm>
          <a:prstGeom prst="rect">
            <a:avLst/>
          </a:prstGeom>
          <a:solidFill>
            <a:srgbClr val="D8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938528"/>
            <a:ext cx="10874959" cy="4206240"/>
          </a:xfrm>
          <a:prstGeom prst="rect">
            <a:avLst/>
          </a:prstGeom>
          <a:noFill/>
        </p:spPr>
        <p:txBody>
          <a:bodyPr wrap="square" anchor="t">
            <a:spAutoFit/>
          </a:bodyPr>
          <a:lstStyle/>
          <a:p>
            <a:pPr algn="l">
              <a:lnSpc>
                <a:spcPct val="105000"/>
              </a:lnSpc>
              <a:spcAft>
                <a:spcPts val="1500"/>
              </a:spcAft>
            </a:pPr>
            <a:r>
              <a:rPr sz="1750" b="1" i="0">
                <a:solidFill>
                  <a:srgbClr val="1A1F2B"/>
                </a:solidFill>
                <a:latin typeface="Helvetica Neue"/>
              </a:rPr>
              <a:t>1.  How many core-collapse supernovae has Cyg OB2 produced?</a:t>
            </a:r>
          </a:p>
          <a:p>
            <a:pPr algn="l">
              <a:lnSpc>
                <a:spcPct val="105000"/>
              </a:lnSpc>
              <a:spcAft>
                <a:spcPts val="1500"/>
              </a:spcAft>
            </a:pPr>
            <a:r>
              <a:rPr sz="1750" b="1" i="0">
                <a:solidFill>
                  <a:srgbClr val="1A1F2B"/>
                </a:solidFill>
                <a:latin typeface="Helvetica Neue"/>
              </a:rPr>
              <a:t>2.  When did they happen — and how likely is a recent one?</a:t>
            </a:r>
          </a:p>
          <a:p>
            <a:pPr algn="l">
              <a:lnSpc>
                <a:spcPct val="105000"/>
              </a:lnSpc>
              <a:spcAft>
                <a:spcPts val="1500"/>
              </a:spcAft>
            </a:pPr>
            <a:r>
              <a:rPr sz="1750" b="1" i="0">
                <a:solidFill>
                  <a:srgbClr val="1A1F2B"/>
                </a:solidFill>
                <a:latin typeface="Helvetica Neue"/>
              </a:rPr>
              <a:t>3.  What were the progenitors?</a:t>
            </a:r>
          </a:p>
          <a:p>
            <a:pPr algn="l">
              <a:lnSpc>
                <a:spcPct val="105000"/>
              </a:lnSpc>
              <a:spcAft>
                <a:spcPts val="1500"/>
              </a:spcAft>
            </a:pPr>
            <a:r>
              <a:rPr sz="1750" b="1" i="0">
                <a:solidFill>
                  <a:srgbClr val="3B6EA8"/>
                </a:solidFill>
                <a:latin typeface="Helvetica Neue"/>
              </a:rPr>
              <a:t>4.  Is the supernova-driven PeVatron scenario supported?</a:t>
            </a:r>
          </a:p>
          <a:p>
            <a:pPr algn="l">
              <a:lnSpc>
                <a:spcPct val="105000"/>
              </a:lnSpc>
              <a:spcAft>
                <a:spcPts val="1500"/>
              </a:spcAft>
            </a:pPr>
            <a:r>
              <a:rPr sz="1750" b="0" i="0">
                <a:solidFill>
                  <a:srgbClr val="5A6272"/>
                </a:solidFill>
                <a:latin typeface="Helvetica Neue"/>
              </a:rPr>
              <a:t>Design rule fixed before any result existed: every model choice is a BRANCH, carried in parallel and never averaged; every comparison is PRE-REGISTERED before it is scored.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F2B"/>
        </a:solidFill>
        <a:effectLst/>
      </p:bgPr>
    </p:bg>
    <p:spTree>
      <p:nvGrpSpPr>
        <p:cNvPr id="1" name=""/>
        <p:cNvGrpSpPr/>
        <p:nvPr/>
      </p:nvGrpSpPr>
      <p:grpSpPr/>
      <p:sp>
        <p:nvSpPr>
          <p:cNvPr id="2" name="TextBox 1"/>
          <p:cNvSpPr txBox="1"/>
          <p:nvPr/>
        </p:nvSpPr>
        <p:spPr>
          <a:xfrm>
            <a:off x="658368" y="2651760"/>
            <a:ext cx="10424160" cy="1828800"/>
          </a:xfrm>
          <a:prstGeom prst="rect">
            <a:avLst/>
          </a:prstGeom>
          <a:noFill/>
        </p:spPr>
        <p:txBody>
          <a:bodyPr wrap="square" anchor="t">
            <a:spAutoFit/>
          </a:bodyPr>
          <a:lstStyle/>
          <a:p>
            <a:pPr algn="l">
              <a:lnSpc>
                <a:spcPct val="100000"/>
              </a:lnSpc>
              <a:spcAft>
                <a:spcPts val="1400"/>
              </a:spcAft>
            </a:pPr>
            <a:r>
              <a:rPr sz="1300" b="1" i="0">
                <a:solidFill>
                  <a:srgbClr val="8A92A0"/>
                </a:solidFill>
                <a:latin typeface="Helvetica Neue"/>
              </a:rPr>
              <a:t>3</a:t>
            </a:r>
          </a:p>
          <a:p>
            <a:pPr algn="l">
              <a:lnSpc>
                <a:spcPct val="100000"/>
              </a:lnSpc>
              <a:spcAft>
                <a:spcPts val="1200"/>
              </a:spcAft>
            </a:pPr>
            <a:r>
              <a:rPr sz="4400" b="1" i="0">
                <a:solidFill>
                  <a:srgbClr val="FFFFFF"/>
                </a:solidFill>
                <a:latin typeface="Helvetica Neue"/>
              </a:rPr>
              <a:t>Method</a:t>
            </a:r>
          </a:p>
          <a:p>
            <a:pPr algn="l">
              <a:lnSpc>
                <a:spcPct val="100000"/>
              </a:lnSpc>
              <a:spcAft>
                <a:spcPts val="0"/>
              </a:spcAft>
            </a:pPr>
            <a:r>
              <a:rPr sz="1700" b="0" i="0">
                <a:solidFill>
                  <a:srgbClr val="9FB4CE"/>
                </a:solidFill>
                <a:latin typeface="Helvetica Neue"/>
              </a:rPr>
              <a:t>From a Gaia catalogue query to a supernova ledger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75488"/>
            <a:ext cx="10874959" cy="274320"/>
          </a:xfrm>
          <a:prstGeom prst="rect">
            <a:avLst/>
          </a:prstGeom>
          <a:noFill/>
        </p:spPr>
        <p:txBody>
          <a:bodyPr wrap="square" anchor="t">
            <a:spAutoFit/>
          </a:bodyPr>
          <a:lstStyle/>
          <a:p>
            <a:pPr algn="l">
              <a:lnSpc>
                <a:spcPct val="100000"/>
              </a:lnSpc>
              <a:spcAft>
                <a:spcPts val="0"/>
              </a:spcAft>
            </a:pPr>
            <a:r>
              <a:rPr sz="1250" b="1" i="0">
                <a:solidFill>
                  <a:srgbClr val="8A92A0"/>
                </a:solidFill>
                <a:latin typeface="Helvetica Neue"/>
              </a:rPr>
              <a:t>PIPELINE</a:t>
            </a:r>
          </a:p>
        </p:txBody>
      </p:sp>
      <p:sp>
        <p:nvSpPr>
          <p:cNvPr id="3" name="TextBox 2"/>
          <p:cNvSpPr txBox="1"/>
          <p:nvPr/>
        </p:nvSpPr>
        <p:spPr>
          <a:xfrm>
            <a:off x="658368" y="804672"/>
            <a:ext cx="10874959" cy="822960"/>
          </a:xfrm>
          <a:prstGeom prst="rect">
            <a:avLst/>
          </a:prstGeom>
          <a:noFill/>
        </p:spPr>
        <p:txBody>
          <a:bodyPr wrap="square" anchor="t">
            <a:spAutoFit/>
          </a:bodyPr>
          <a:lstStyle/>
          <a:p>
            <a:pPr algn="l">
              <a:lnSpc>
                <a:spcPct val="95000"/>
              </a:lnSpc>
              <a:spcAft>
                <a:spcPts val="0"/>
              </a:spcAft>
            </a:pPr>
            <a:r>
              <a:rPr sz="3000" b="1" i="0">
                <a:solidFill>
                  <a:srgbClr val="1A1F2B"/>
                </a:solidFill>
                <a:latin typeface="Helvetica Neue"/>
              </a:rPr>
              <a:t>The chain, and the one out-of-sample test in it</a:t>
            </a:r>
          </a:p>
        </p:txBody>
      </p:sp>
      <p:sp>
        <p:nvSpPr>
          <p:cNvPr id="4" name="Rectangle 3"/>
          <p:cNvSpPr/>
          <p:nvPr/>
        </p:nvSpPr>
        <p:spPr>
          <a:xfrm>
            <a:off x="658368" y="1700784"/>
            <a:ext cx="10874959" cy="19050"/>
          </a:xfrm>
          <a:prstGeom prst="rect">
            <a:avLst/>
          </a:prstGeom>
          <a:solidFill>
            <a:srgbClr val="D8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938528"/>
            <a:ext cx="10874959" cy="4206240"/>
          </a:xfrm>
          <a:prstGeom prst="rect">
            <a:avLst/>
          </a:prstGeom>
          <a:noFill/>
        </p:spPr>
        <p:txBody>
          <a:bodyPr wrap="square" anchor="t">
            <a:spAutoFit/>
          </a:bodyPr>
          <a:lstStyle/>
          <a:p>
            <a:pPr algn="l">
              <a:lnSpc>
                <a:spcPct val="105000"/>
              </a:lnSpc>
              <a:spcAft>
                <a:spcPts val="1500"/>
              </a:spcAft>
            </a:pPr>
            <a:r>
              <a:rPr sz="1650" b="0" i="0">
                <a:solidFill>
                  <a:srgbClr val="1A1F2B"/>
                </a:solidFill>
                <a:latin typeface="Helvetica Neue"/>
              </a:rPr>
              <a:t>Gaia DR3 + 2MASS  →  membership &amp; three subgroups</a:t>
            </a:r>
          </a:p>
          <a:p>
            <a:pPr algn="l">
              <a:lnSpc>
                <a:spcPct val="105000"/>
              </a:lnSpc>
              <a:spcAft>
                <a:spcPts val="1500"/>
              </a:spcAft>
            </a:pPr>
            <a:r>
              <a:rPr sz="1650" b="0" i="0">
                <a:solidFill>
                  <a:srgbClr val="1A1F2B"/>
                </a:solidFill>
                <a:latin typeface="Helvetica Neue"/>
              </a:rPr>
              <a:t>→  per-star extinction and de-reddened CMD</a:t>
            </a:r>
          </a:p>
          <a:p>
            <a:pPr algn="l">
              <a:lnSpc>
                <a:spcPct val="105000"/>
              </a:lnSpc>
              <a:spcAft>
                <a:spcPts val="1500"/>
              </a:spcAft>
            </a:pPr>
            <a:r>
              <a:rPr sz="1650" b="0" i="0">
                <a:solidFill>
                  <a:srgbClr val="1A1F2B"/>
                </a:solidFill>
                <a:latin typeface="Helvetica Neue"/>
              </a:rPr>
              <a:t>→  subgroup ages and per-star masses</a:t>
            </a:r>
          </a:p>
          <a:p>
            <a:pPr algn="l">
              <a:lnSpc>
                <a:spcPct val="105000"/>
              </a:lnSpc>
              <a:spcAft>
                <a:spcPts val="1500"/>
              </a:spcAft>
            </a:pPr>
            <a:r>
              <a:rPr sz="1650" b="0" i="0">
                <a:solidFill>
                  <a:srgbClr val="1A1F2B"/>
                </a:solidFill>
                <a:latin typeface="Helvetica Neue"/>
              </a:rPr>
              <a:t>→  IMF normalization from 2–8 M⊙ counts + completeness</a:t>
            </a:r>
          </a:p>
          <a:p>
            <a:pPr algn="l">
              <a:lnSpc>
                <a:spcPct val="105000"/>
              </a:lnSpc>
              <a:spcAft>
                <a:spcPts val="1500"/>
              </a:spcAft>
            </a:pPr>
            <a:r>
              <a:rPr sz="1650" b="1" i="0">
                <a:solidFill>
                  <a:srgbClr val="4F8A5B"/>
                </a:solidFill>
                <a:latin typeface="Helvetica Neue"/>
              </a:rPr>
              <a:t>→  census closure above 8 M⊙  ·  runaway recovery</a:t>
            </a:r>
          </a:p>
          <a:p>
            <a:pPr algn="l">
              <a:lnSpc>
                <a:spcPct val="105000"/>
              </a:lnSpc>
              <a:spcAft>
                <a:spcPts val="1500"/>
              </a:spcAft>
            </a:pPr>
            <a:r>
              <a:rPr sz="1650" b="1" i="0">
                <a:solidFill>
                  <a:srgbClr val="3B6EA8"/>
                </a:solidFill>
                <a:latin typeface="Helvetica Neue"/>
              </a:rPr>
              <a:t>→  the supernova ledger: how many died, and when</a:t>
            </a:r>
          </a:p>
          <a:p>
            <a:pPr algn="l">
              <a:lnSpc>
                <a:spcPct val="105000"/>
              </a:lnSpc>
              <a:spcAft>
                <a:spcPts val="1500"/>
              </a:spcAft>
            </a:pPr>
            <a:r>
              <a:rPr sz="1650" b="0" i="0">
                <a:solidFill>
                  <a:srgbClr val="5A6272"/>
                </a:solidFill>
                <a:latin typeface="Helvetica Neue"/>
              </a:rPr>
              <a:t>The IMF is fitted on 2–8 M⊙ stars only. The &gt;8 M⊙ census never enters that fit — so comparing predicted to observed massive stars is a genuine out-of-sample test.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75488"/>
            <a:ext cx="10874959" cy="274320"/>
          </a:xfrm>
          <a:prstGeom prst="rect">
            <a:avLst/>
          </a:prstGeom>
          <a:noFill/>
        </p:spPr>
        <p:txBody>
          <a:bodyPr wrap="square" anchor="t">
            <a:spAutoFit/>
          </a:bodyPr>
          <a:lstStyle/>
          <a:p>
            <a:pPr algn="l">
              <a:lnSpc>
                <a:spcPct val="100000"/>
              </a:lnSpc>
              <a:spcAft>
                <a:spcPts val="0"/>
              </a:spcAft>
            </a:pPr>
            <a:r>
              <a:rPr sz="1250" b="1" i="0">
                <a:solidFill>
                  <a:srgbClr val="8A92A0"/>
                </a:solidFill>
                <a:latin typeface="Helvetica Neue"/>
              </a:rPr>
              <a:t>STEP 1</a:t>
            </a:r>
          </a:p>
        </p:txBody>
      </p:sp>
      <p:sp>
        <p:nvSpPr>
          <p:cNvPr id="3" name="TextBox 2"/>
          <p:cNvSpPr txBox="1"/>
          <p:nvPr/>
        </p:nvSpPr>
        <p:spPr>
          <a:xfrm>
            <a:off x="658368" y="804672"/>
            <a:ext cx="10874959" cy="822960"/>
          </a:xfrm>
          <a:prstGeom prst="rect">
            <a:avLst/>
          </a:prstGeom>
          <a:noFill/>
        </p:spPr>
        <p:txBody>
          <a:bodyPr wrap="square" anchor="t">
            <a:spAutoFit/>
          </a:bodyPr>
          <a:lstStyle/>
          <a:p>
            <a:pPr algn="l">
              <a:lnSpc>
                <a:spcPct val="95000"/>
              </a:lnSpc>
              <a:spcAft>
                <a:spcPts val="0"/>
              </a:spcAft>
            </a:pPr>
            <a:r>
              <a:rPr sz="3000" b="1" i="0">
                <a:solidFill>
                  <a:srgbClr val="1A1F2B"/>
                </a:solidFill>
                <a:latin typeface="Helvetica Neue"/>
              </a:rPr>
              <a:t>Membership: 1,392 members, three subgroups</a:t>
            </a:r>
          </a:p>
        </p:txBody>
      </p:sp>
      <p:sp>
        <p:nvSpPr>
          <p:cNvPr id="4" name="Rectangle 3"/>
          <p:cNvSpPr/>
          <p:nvPr/>
        </p:nvSpPr>
        <p:spPr>
          <a:xfrm>
            <a:off x="658368" y="1700784"/>
            <a:ext cx="10874959" cy="19050"/>
          </a:xfrm>
          <a:prstGeom prst="rect">
            <a:avLst/>
          </a:prstGeom>
          <a:solidFill>
            <a:srgbClr val="D8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1_membership_literature.png"/>
          <p:cNvPicPr>
            <a:picLocks noChangeAspect="1"/>
          </p:cNvPicPr>
          <p:nvPr/>
        </p:nvPicPr>
        <p:blipFill>
          <a:blip r:embed="rId2"/>
          <a:stretch>
            <a:fillRect/>
          </a:stretch>
        </p:blipFill>
        <p:spPr>
          <a:xfrm>
            <a:off x="1908065" y="1938528"/>
            <a:ext cx="8375565" cy="3639312"/>
          </a:xfrm>
          <a:prstGeom prst="rect">
            <a:avLst/>
          </a:prstGeom>
        </p:spPr>
      </p:pic>
      <p:sp>
        <p:nvSpPr>
          <p:cNvPr id="6" name="TextBox 5"/>
          <p:cNvSpPr txBox="1"/>
          <p:nvPr/>
        </p:nvSpPr>
        <p:spPr>
          <a:xfrm>
            <a:off x="658368" y="5742432"/>
            <a:ext cx="10874959" cy="868680"/>
          </a:xfrm>
          <a:prstGeom prst="rect">
            <a:avLst/>
          </a:prstGeom>
          <a:noFill/>
        </p:spPr>
        <p:txBody>
          <a:bodyPr wrap="square" anchor="t">
            <a:spAutoFit/>
          </a:bodyPr>
          <a:lstStyle/>
          <a:p>
            <a:pPr algn="l">
              <a:lnSpc>
                <a:spcPct val="112000"/>
              </a:lnSpc>
              <a:spcAft>
                <a:spcPts val="0"/>
              </a:spcAft>
            </a:pPr>
            <a:r>
              <a:rPr sz="1450" b="0" i="0">
                <a:solidFill>
                  <a:srgbClr val="5A6272"/>
                </a:solidFill>
                <a:latin typeface="Helvetica Neue"/>
              </a:rPr>
              <a:t>Clustering in position and proper motion; parallax deliberately excluded (one population at 1.62 kpc, its depth exhausted at DR3 precision). Literature recall 0.825; control-field yield 3.7%.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75488"/>
            <a:ext cx="10874959" cy="274320"/>
          </a:xfrm>
          <a:prstGeom prst="rect">
            <a:avLst/>
          </a:prstGeom>
          <a:noFill/>
        </p:spPr>
        <p:txBody>
          <a:bodyPr wrap="square" anchor="t">
            <a:spAutoFit/>
          </a:bodyPr>
          <a:lstStyle/>
          <a:p>
            <a:pPr algn="l">
              <a:lnSpc>
                <a:spcPct val="100000"/>
              </a:lnSpc>
              <a:spcAft>
                <a:spcPts val="0"/>
              </a:spcAft>
            </a:pPr>
            <a:r>
              <a:rPr sz="1250" b="1" i="0">
                <a:solidFill>
                  <a:srgbClr val="8A92A0"/>
                </a:solidFill>
                <a:latin typeface="Helvetica Neue"/>
              </a:rPr>
              <a:t>STEP 2</a:t>
            </a:r>
          </a:p>
        </p:txBody>
      </p:sp>
      <p:sp>
        <p:nvSpPr>
          <p:cNvPr id="3" name="TextBox 2"/>
          <p:cNvSpPr txBox="1"/>
          <p:nvPr/>
        </p:nvSpPr>
        <p:spPr>
          <a:xfrm>
            <a:off x="658368" y="804672"/>
            <a:ext cx="10874959" cy="822960"/>
          </a:xfrm>
          <a:prstGeom prst="rect">
            <a:avLst/>
          </a:prstGeom>
          <a:noFill/>
        </p:spPr>
        <p:txBody>
          <a:bodyPr wrap="square" anchor="t">
            <a:spAutoFit/>
          </a:bodyPr>
          <a:lstStyle/>
          <a:p>
            <a:pPr algn="l">
              <a:lnSpc>
                <a:spcPct val="95000"/>
              </a:lnSpc>
              <a:spcAft>
                <a:spcPts val="0"/>
              </a:spcAft>
            </a:pPr>
            <a:r>
              <a:rPr sz="3000" b="1" i="0">
                <a:solidFill>
                  <a:srgbClr val="1A1F2B"/>
                </a:solidFill>
                <a:latin typeface="Helvetica Neue"/>
              </a:rPr>
              <a:t>The mass function, and what normalizes it</a:t>
            </a:r>
          </a:p>
        </p:txBody>
      </p:sp>
      <p:sp>
        <p:nvSpPr>
          <p:cNvPr id="4" name="Rectangle 3"/>
          <p:cNvSpPr/>
          <p:nvPr/>
        </p:nvSpPr>
        <p:spPr>
          <a:xfrm>
            <a:off x="658368" y="1700784"/>
            <a:ext cx="10874959" cy="19050"/>
          </a:xfrm>
          <a:prstGeom prst="rect">
            <a:avLst/>
          </a:prstGeom>
          <a:solidFill>
            <a:srgbClr val="D8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3_mass_function.png"/>
          <p:cNvPicPr>
            <a:picLocks noChangeAspect="1"/>
          </p:cNvPicPr>
          <p:nvPr/>
        </p:nvPicPr>
        <p:blipFill>
          <a:blip r:embed="rId2"/>
          <a:stretch>
            <a:fillRect/>
          </a:stretch>
        </p:blipFill>
        <p:spPr>
          <a:xfrm>
            <a:off x="2222522" y="1938528"/>
            <a:ext cx="7746650" cy="3639312"/>
          </a:xfrm>
          <a:prstGeom prst="rect">
            <a:avLst/>
          </a:prstGeom>
        </p:spPr>
      </p:pic>
      <p:sp>
        <p:nvSpPr>
          <p:cNvPr id="6" name="TextBox 5"/>
          <p:cNvSpPr txBox="1"/>
          <p:nvPr/>
        </p:nvSpPr>
        <p:spPr>
          <a:xfrm>
            <a:off x="658368" y="5742432"/>
            <a:ext cx="10874959" cy="868680"/>
          </a:xfrm>
          <a:prstGeom prst="rect">
            <a:avLst/>
          </a:prstGeom>
          <a:noFill/>
        </p:spPr>
        <p:txBody>
          <a:bodyPr wrap="square" anchor="t">
            <a:spAutoFit/>
          </a:bodyPr>
          <a:lstStyle/>
          <a:p>
            <a:pPr algn="l">
              <a:lnSpc>
                <a:spcPct val="112000"/>
              </a:lnSpc>
              <a:spcAft>
                <a:spcPts val="0"/>
              </a:spcAft>
            </a:pPr>
            <a:r>
              <a:rPr sz="1450" b="0" i="0">
                <a:solidFill>
                  <a:srgbClr val="5A6272"/>
                </a:solidFill>
                <a:latin typeface="Helvetica Neue"/>
              </a:rPr>
              <a:t>Forward-modelled counts against observation for the three subgroups. 40 of 54 model branches pass the residual gate. The normalization k is fitted here, below 8 M⊙, and then extrapolated upward.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75488"/>
            <a:ext cx="10874959" cy="274320"/>
          </a:xfrm>
          <a:prstGeom prst="rect">
            <a:avLst/>
          </a:prstGeom>
          <a:noFill/>
        </p:spPr>
        <p:txBody>
          <a:bodyPr wrap="square" anchor="t">
            <a:spAutoFit/>
          </a:bodyPr>
          <a:lstStyle/>
          <a:p>
            <a:pPr algn="l">
              <a:lnSpc>
                <a:spcPct val="100000"/>
              </a:lnSpc>
              <a:spcAft>
                <a:spcPts val="0"/>
              </a:spcAft>
            </a:pPr>
            <a:r>
              <a:rPr sz="1250" b="1" i="0">
                <a:solidFill>
                  <a:srgbClr val="8A92A0"/>
                </a:solidFill>
                <a:latin typeface="Helvetica Neue"/>
              </a:rPr>
              <a:t>STEP 3 · THE VALIDATION THAT MATTERS</a:t>
            </a:r>
          </a:p>
        </p:txBody>
      </p:sp>
      <p:sp>
        <p:nvSpPr>
          <p:cNvPr id="3" name="TextBox 2"/>
          <p:cNvSpPr txBox="1"/>
          <p:nvPr/>
        </p:nvSpPr>
        <p:spPr>
          <a:xfrm>
            <a:off x="658368" y="804672"/>
            <a:ext cx="10874959" cy="822960"/>
          </a:xfrm>
          <a:prstGeom prst="rect">
            <a:avLst/>
          </a:prstGeom>
          <a:noFill/>
        </p:spPr>
        <p:txBody>
          <a:bodyPr wrap="square" anchor="t">
            <a:spAutoFit/>
          </a:bodyPr>
          <a:lstStyle/>
          <a:p>
            <a:pPr algn="l">
              <a:lnSpc>
                <a:spcPct val="95000"/>
              </a:lnSpc>
              <a:spcAft>
                <a:spcPts val="0"/>
              </a:spcAft>
            </a:pPr>
            <a:r>
              <a:rPr sz="3000" b="1" i="0">
                <a:solidFill>
                  <a:srgbClr val="1A1F2B"/>
                </a:solidFill>
                <a:latin typeface="Helvetica Neue"/>
              </a:rPr>
              <a:t>The census closes at Salpeter — out of sample</a:t>
            </a:r>
          </a:p>
        </p:txBody>
      </p:sp>
      <p:sp>
        <p:nvSpPr>
          <p:cNvPr id="4" name="Rectangle 3"/>
          <p:cNvSpPr/>
          <p:nvPr/>
        </p:nvSpPr>
        <p:spPr>
          <a:xfrm>
            <a:off x="658368" y="1700784"/>
            <a:ext cx="10874959" cy="19050"/>
          </a:xfrm>
          <a:prstGeom prst="rect">
            <a:avLst/>
          </a:prstGeom>
          <a:solidFill>
            <a:srgbClr val="D8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2258568"/>
            <a:ext cx="3417722" cy="2377440"/>
          </a:xfrm>
          <a:prstGeom prst="rect">
            <a:avLst/>
          </a:prstGeom>
          <a:noFill/>
        </p:spPr>
        <p:txBody>
          <a:bodyPr wrap="square" anchor="t">
            <a:spAutoFit/>
          </a:bodyPr>
          <a:lstStyle/>
          <a:p>
            <a:pPr algn="ctr">
              <a:lnSpc>
                <a:spcPct val="95000"/>
              </a:lnSpc>
              <a:spcAft>
                <a:spcPts val="1000"/>
              </a:spcAft>
            </a:pPr>
            <a:r>
              <a:rPr sz="5400" b="1" i="0">
                <a:solidFill>
                  <a:srgbClr val="4F8A5B"/>
                </a:solidFill>
                <a:latin typeface="Helvetica Neue"/>
              </a:rPr>
              <a:t>6.7%</a:t>
            </a:r>
          </a:p>
          <a:p>
            <a:pPr algn="ctr">
              <a:lnSpc>
                <a:spcPct val="110000"/>
              </a:lnSpc>
              <a:spcAft>
                <a:spcPts val="0"/>
              </a:spcAft>
            </a:pPr>
            <a:r>
              <a:rPr sz="1450" b="0" i="0">
                <a:solidFill>
                  <a:srgbClr val="5A6272"/>
                </a:solidFill>
                <a:latin typeface="Helvetica Neue"/>
              </a:rPr>
              <a:t>observed massive stars</a:t>
            </a:r>
          </a:p>
          <a:p>
            <a:pPr algn="ctr">
              <a:lnSpc>
                <a:spcPct val="110000"/>
              </a:lnSpc>
              <a:spcAft>
                <a:spcPts val="0"/>
              </a:spcAft>
            </a:pPr>
            <a:r>
              <a:rPr sz="1450" b="0" i="0">
                <a:solidFill>
                  <a:srgbClr val="5A6272"/>
                </a:solidFill>
                <a:latin typeface="Helvetica Neue"/>
              </a:rPr>
              <a:t>exceed prediction (α = 2.3)</a:t>
            </a:r>
          </a:p>
        </p:txBody>
      </p:sp>
      <p:sp>
        <p:nvSpPr>
          <p:cNvPr id="6" name="TextBox 5"/>
          <p:cNvSpPr txBox="1"/>
          <p:nvPr/>
        </p:nvSpPr>
        <p:spPr>
          <a:xfrm>
            <a:off x="4386986" y="2258568"/>
            <a:ext cx="3417722" cy="2377440"/>
          </a:xfrm>
          <a:prstGeom prst="rect">
            <a:avLst/>
          </a:prstGeom>
          <a:noFill/>
        </p:spPr>
        <p:txBody>
          <a:bodyPr wrap="square" anchor="t">
            <a:spAutoFit/>
          </a:bodyPr>
          <a:lstStyle/>
          <a:p>
            <a:pPr algn="ctr">
              <a:lnSpc>
                <a:spcPct val="95000"/>
              </a:lnSpc>
              <a:spcAft>
                <a:spcPts val="1000"/>
              </a:spcAft>
            </a:pPr>
            <a:r>
              <a:rPr sz="5400" b="1" i="0">
                <a:solidFill>
                  <a:srgbClr val="1A1F2B"/>
                </a:solidFill>
                <a:latin typeface="Helvetica Neue"/>
              </a:rPr>
              <a:t>2.25</a:t>
            </a:r>
          </a:p>
          <a:p>
            <a:pPr algn="ctr">
              <a:lnSpc>
                <a:spcPct val="110000"/>
              </a:lnSpc>
              <a:spcAft>
                <a:spcPts val="0"/>
              </a:spcAft>
            </a:pPr>
            <a:r>
              <a:rPr sz="1450" b="0" i="0">
                <a:solidFill>
                  <a:srgbClr val="5A6272"/>
                </a:solidFill>
                <a:latin typeface="Helvetica Neue"/>
              </a:rPr>
              <a:t>slope α at which the</a:t>
            </a:r>
          </a:p>
          <a:p>
            <a:pPr algn="ctr">
              <a:lnSpc>
                <a:spcPct val="110000"/>
              </a:lnSpc>
              <a:spcAft>
                <a:spcPts val="0"/>
              </a:spcAft>
            </a:pPr>
            <a:r>
              <a:rPr sz="1450" b="0" i="0">
                <a:solidFill>
                  <a:srgbClr val="5A6272"/>
                </a:solidFill>
                <a:latin typeface="Helvetica Neue"/>
              </a:rPr>
              <a:t>census closes exactly</a:t>
            </a:r>
          </a:p>
        </p:txBody>
      </p:sp>
      <p:sp>
        <p:nvSpPr>
          <p:cNvPr id="7" name="TextBox 6"/>
          <p:cNvSpPr txBox="1"/>
          <p:nvPr/>
        </p:nvSpPr>
        <p:spPr>
          <a:xfrm>
            <a:off x="8115604" y="2258568"/>
            <a:ext cx="3417722" cy="2377440"/>
          </a:xfrm>
          <a:prstGeom prst="rect">
            <a:avLst/>
          </a:prstGeom>
          <a:noFill/>
        </p:spPr>
        <p:txBody>
          <a:bodyPr wrap="square" anchor="t">
            <a:spAutoFit/>
          </a:bodyPr>
          <a:lstStyle/>
          <a:p>
            <a:pPr algn="ctr">
              <a:lnSpc>
                <a:spcPct val="95000"/>
              </a:lnSpc>
              <a:spcAft>
                <a:spcPts val="1000"/>
              </a:spcAft>
            </a:pPr>
            <a:r>
              <a:rPr sz="5400" b="1" i="0">
                <a:solidFill>
                  <a:srgbClr val="1A1F2B"/>
                </a:solidFill>
                <a:latin typeface="Helvetica Neue"/>
              </a:rPr>
              <a:t>18/18</a:t>
            </a:r>
          </a:p>
          <a:p>
            <a:pPr algn="ctr">
              <a:lnSpc>
                <a:spcPct val="110000"/>
              </a:lnSpc>
              <a:spcAft>
                <a:spcPts val="0"/>
              </a:spcAft>
            </a:pPr>
            <a:r>
              <a:rPr sz="1450" b="0" i="0">
                <a:solidFill>
                  <a:srgbClr val="5A6272"/>
                </a:solidFill>
                <a:latin typeface="Helvetica Neue"/>
              </a:rPr>
              <a:t>cells inside the</a:t>
            </a:r>
          </a:p>
          <a:p>
            <a:pPr algn="ctr">
              <a:lnSpc>
                <a:spcPct val="110000"/>
              </a:lnSpc>
              <a:spcAft>
                <a:spcPts val="0"/>
              </a:spcAft>
            </a:pPr>
            <a:r>
              <a:rPr sz="1450" b="0" i="0">
                <a:solidFill>
                  <a:srgbClr val="5A6272"/>
                </a:solidFill>
                <a:latin typeface="Helvetica Neue"/>
              </a:rPr>
              <a:t>carried branch grid</a:t>
            </a:r>
          </a:p>
        </p:txBody>
      </p:sp>
      <p:sp>
        <p:nvSpPr>
          <p:cNvPr id="8" name="TextBox 7"/>
          <p:cNvSpPr txBox="1"/>
          <p:nvPr/>
        </p:nvSpPr>
        <p:spPr>
          <a:xfrm>
            <a:off x="658368" y="5257800"/>
            <a:ext cx="10874959" cy="1005840"/>
          </a:xfrm>
          <a:prstGeom prst="rect">
            <a:avLst/>
          </a:prstGeom>
          <a:noFill/>
        </p:spPr>
        <p:txBody>
          <a:bodyPr wrap="square" anchor="t">
            <a:spAutoFit/>
          </a:bodyPr>
          <a:lstStyle/>
          <a:p>
            <a:pPr algn="l">
              <a:lnSpc>
                <a:spcPct val="110000"/>
              </a:lnSpc>
              <a:spcAft>
                <a:spcPts val="0"/>
              </a:spcAft>
            </a:pPr>
            <a:r>
              <a:rPr sz="1600" b="0" i="0">
                <a:solidFill>
                  <a:srgbClr val="1A1F2B"/>
                </a:solidFill>
                <a:latin typeface="Helvetica Neue"/>
              </a:rPr>
              <a:t>The IMF was normalized on low-mass counts alone, yet it predicts the observed massive-star population to within 7%. Nothing was tuned to make this happen.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75488"/>
            <a:ext cx="10874959" cy="274320"/>
          </a:xfrm>
          <a:prstGeom prst="rect">
            <a:avLst/>
          </a:prstGeom>
          <a:noFill/>
        </p:spPr>
        <p:txBody>
          <a:bodyPr wrap="square" anchor="t">
            <a:spAutoFit/>
          </a:bodyPr>
          <a:lstStyle/>
          <a:p>
            <a:pPr algn="l">
              <a:lnSpc>
                <a:spcPct val="100000"/>
              </a:lnSpc>
              <a:spcAft>
                <a:spcPts val="0"/>
              </a:spcAft>
            </a:pPr>
            <a:r>
              <a:rPr sz="1250" b="1" i="0">
                <a:solidFill>
                  <a:srgbClr val="8A92A0"/>
                </a:solidFill>
                <a:latin typeface="Helvetica Neue"/>
              </a:rPr>
              <a:t>STEP 4</a:t>
            </a:r>
          </a:p>
        </p:txBody>
      </p:sp>
      <p:sp>
        <p:nvSpPr>
          <p:cNvPr id="3" name="TextBox 2"/>
          <p:cNvSpPr txBox="1"/>
          <p:nvPr/>
        </p:nvSpPr>
        <p:spPr>
          <a:xfrm>
            <a:off x="658368" y="804672"/>
            <a:ext cx="10874959" cy="822960"/>
          </a:xfrm>
          <a:prstGeom prst="rect">
            <a:avLst/>
          </a:prstGeom>
          <a:noFill/>
        </p:spPr>
        <p:txBody>
          <a:bodyPr wrap="square" anchor="t">
            <a:spAutoFit/>
          </a:bodyPr>
          <a:lstStyle/>
          <a:p>
            <a:pPr algn="l">
              <a:lnSpc>
                <a:spcPct val="95000"/>
              </a:lnSpc>
              <a:spcAft>
                <a:spcPts val="0"/>
              </a:spcAft>
            </a:pPr>
            <a:r>
              <a:rPr sz="3000" b="1" i="0">
                <a:solidFill>
                  <a:srgbClr val="1A1F2B"/>
                </a:solidFill>
                <a:latin typeface="Helvetica Neue"/>
              </a:rPr>
              <a:t>Runaways: stars that left, and still count</a:t>
            </a:r>
          </a:p>
        </p:txBody>
      </p:sp>
      <p:sp>
        <p:nvSpPr>
          <p:cNvPr id="4" name="Rectangle 3"/>
          <p:cNvSpPr/>
          <p:nvPr/>
        </p:nvSpPr>
        <p:spPr>
          <a:xfrm>
            <a:off x="658368" y="1700784"/>
            <a:ext cx="10874959" cy="19050"/>
          </a:xfrm>
          <a:prstGeom prst="rect">
            <a:avLst/>
          </a:prstGeom>
          <a:solidFill>
            <a:srgbClr val="D8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938528"/>
            <a:ext cx="10874959" cy="4206240"/>
          </a:xfrm>
          <a:prstGeom prst="rect">
            <a:avLst/>
          </a:prstGeom>
          <a:noFill/>
        </p:spPr>
        <p:txBody>
          <a:bodyPr wrap="square" anchor="t">
            <a:spAutoFit/>
          </a:bodyPr>
          <a:lstStyle/>
          <a:p>
            <a:pPr algn="l">
              <a:lnSpc>
                <a:spcPct val="105000"/>
              </a:lnSpc>
              <a:spcAft>
                <a:spcPts val="1500"/>
              </a:spcAft>
            </a:pPr>
            <a:r>
              <a:rPr sz="1750" b="0" i="0">
                <a:solidFill>
                  <a:srgbClr val="1A1F2B"/>
                </a:solidFill>
                <a:latin typeface="Helvetica Neue"/>
              </a:rPr>
              <a:t>119 raw candidates recovered by traceback of PECULIAR proper motions  →  54.9 after a measured false-positive rate.</a:t>
            </a:r>
          </a:p>
          <a:p>
            <a:pPr algn="l">
              <a:lnSpc>
                <a:spcPct val="105000"/>
              </a:lnSpc>
              <a:spcAft>
                <a:spcPts val="1500"/>
              </a:spcAft>
            </a:pPr>
            <a:r>
              <a:rPr sz="1750" b="0" i="0">
                <a:solidFill>
                  <a:srgbClr val="1A1F2B"/>
                </a:solidFill>
                <a:latin typeface="Helvetica Neue"/>
              </a:rPr>
              <a:t>They bound the fraction of supernovae that occurred outside the association at ≤ 14.6%.</a:t>
            </a:r>
          </a:p>
          <a:p>
            <a:pPr algn="l">
              <a:lnSpc>
                <a:spcPct val="105000"/>
              </a:lnSpc>
              <a:spcAft>
                <a:spcPts val="1500"/>
              </a:spcAft>
            </a:pPr>
            <a:r>
              <a:rPr sz="1750" b="1" i="0">
                <a:solidFill>
                  <a:srgbClr val="4F8A5B"/>
                </a:solidFill>
                <a:latin typeface="Helvetica Neue"/>
              </a:rPr>
              <a:t>External check: BD+43 3654, the canonical ejected O star, is recovered at probability 1.000 — 38.8 km/s and 1.36 Myr against a literature ~40 km/s and 1.6 Myr.</a:t>
            </a:r>
          </a:p>
          <a:p>
            <a:pPr algn="l">
              <a:lnSpc>
                <a:spcPct val="105000"/>
              </a:lnSpc>
              <a:spcAft>
                <a:spcPts val="1500"/>
              </a:spcAft>
            </a:pPr>
            <a:r>
              <a:rPr sz="1750" b="0" i="0">
                <a:solidFill>
                  <a:srgbClr val="C4622D"/>
                </a:solidFill>
                <a:latin typeface="Helvetica Neue"/>
              </a:rPr>
              <a:t>That check also caught a real bug: the first version traced back ABSOLUTE proper motions, which measure the association's bulk drift, not ejection. Result withdrawn and re-run.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A1F2B"/>
        </a:solidFill>
        <a:effectLst/>
      </p:bgPr>
    </p:bg>
    <p:spTree>
      <p:nvGrpSpPr>
        <p:cNvPr id="1" name=""/>
        <p:cNvGrpSpPr/>
        <p:nvPr/>
      </p:nvGrpSpPr>
      <p:grpSpPr/>
      <p:sp>
        <p:nvSpPr>
          <p:cNvPr id="2" name="TextBox 1"/>
          <p:cNvSpPr txBox="1"/>
          <p:nvPr/>
        </p:nvSpPr>
        <p:spPr>
          <a:xfrm>
            <a:off x="658368" y="2651760"/>
            <a:ext cx="10424160" cy="1828800"/>
          </a:xfrm>
          <a:prstGeom prst="rect">
            <a:avLst/>
          </a:prstGeom>
          <a:noFill/>
        </p:spPr>
        <p:txBody>
          <a:bodyPr wrap="square" anchor="t">
            <a:spAutoFit/>
          </a:bodyPr>
          <a:lstStyle/>
          <a:p>
            <a:pPr algn="l">
              <a:lnSpc>
                <a:spcPct val="100000"/>
              </a:lnSpc>
              <a:spcAft>
                <a:spcPts val="1400"/>
              </a:spcAft>
            </a:pPr>
            <a:r>
              <a:rPr sz="1300" b="1" i="0">
                <a:solidFill>
                  <a:srgbClr val="8A92A0"/>
                </a:solidFill>
                <a:latin typeface="Helvetica Neue"/>
              </a:rPr>
              <a:t>4</a:t>
            </a:r>
          </a:p>
          <a:p>
            <a:pPr algn="l">
              <a:lnSpc>
                <a:spcPct val="100000"/>
              </a:lnSpc>
              <a:spcAft>
                <a:spcPts val="1200"/>
              </a:spcAft>
            </a:pPr>
            <a:r>
              <a:rPr sz="4400" b="1" i="0">
                <a:solidFill>
                  <a:srgbClr val="FFFFFF"/>
                </a:solidFill>
                <a:latin typeface="Helvetica Neue"/>
              </a:rPr>
              <a:t>Results</a:t>
            </a:r>
          </a:p>
          <a:p>
            <a:pPr algn="l">
              <a:lnSpc>
                <a:spcPct val="100000"/>
              </a:lnSpc>
              <a:spcAft>
                <a:spcPts val="0"/>
              </a:spcAft>
            </a:pPr>
            <a:r>
              <a:rPr sz="1700" b="0" i="0">
                <a:solidFill>
                  <a:srgbClr val="9FB4CE"/>
                </a:solidFill>
                <a:latin typeface="Helvetica Neue"/>
              </a:rPr>
              <a:t>The ledger, and the two findings that dominate it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75488"/>
            <a:ext cx="10874959" cy="274320"/>
          </a:xfrm>
          <a:prstGeom prst="rect">
            <a:avLst/>
          </a:prstGeom>
          <a:noFill/>
        </p:spPr>
        <p:txBody>
          <a:bodyPr wrap="square" anchor="t">
            <a:spAutoFit/>
          </a:bodyPr>
          <a:lstStyle/>
          <a:p>
            <a:pPr algn="l">
              <a:lnSpc>
                <a:spcPct val="100000"/>
              </a:lnSpc>
              <a:spcAft>
                <a:spcPts val="0"/>
              </a:spcAft>
            </a:pPr>
            <a:r>
              <a:rPr sz="1250" b="1" i="0">
                <a:solidFill>
                  <a:srgbClr val="8A92A0"/>
                </a:solidFill>
                <a:latin typeface="Helvetica Neue"/>
              </a:rPr>
              <a:t>RESULT 1</a:t>
            </a:r>
          </a:p>
        </p:txBody>
      </p:sp>
      <p:sp>
        <p:nvSpPr>
          <p:cNvPr id="3" name="TextBox 2"/>
          <p:cNvSpPr txBox="1"/>
          <p:nvPr/>
        </p:nvSpPr>
        <p:spPr>
          <a:xfrm>
            <a:off x="658368" y="804672"/>
            <a:ext cx="10874959" cy="822960"/>
          </a:xfrm>
          <a:prstGeom prst="rect">
            <a:avLst/>
          </a:prstGeom>
          <a:noFill/>
        </p:spPr>
        <p:txBody>
          <a:bodyPr wrap="square" anchor="t">
            <a:spAutoFit/>
          </a:bodyPr>
          <a:lstStyle/>
          <a:p>
            <a:pPr algn="l">
              <a:lnSpc>
                <a:spcPct val="95000"/>
              </a:lnSpc>
              <a:spcAft>
                <a:spcPts val="0"/>
              </a:spcAft>
            </a:pPr>
            <a:r>
              <a:rPr sz="3000" b="1" i="0">
                <a:solidFill>
                  <a:srgbClr val="1A1F2B"/>
                </a:solidFill>
                <a:latin typeface="Helvetica Neue"/>
              </a:rPr>
              <a:t>The supernova ledger</a:t>
            </a:r>
          </a:p>
        </p:txBody>
      </p:sp>
      <p:sp>
        <p:nvSpPr>
          <p:cNvPr id="4" name="Rectangle 3"/>
          <p:cNvSpPr/>
          <p:nvPr/>
        </p:nvSpPr>
        <p:spPr>
          <a:xfrm>
            <a:off x="658368" y="1700784"/>
            <a:ext cx="10874959" cy="19050"/>
          </a:xfrm>
          <a:prstGeom prst="rect">
            <a:avLst/>
          </a:prstGeom>
          <a:solidFill>
            <a:srgbClr val="D8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4_rsn_history.png"/>
          <p:cNvPicPr>
            <a:picLocks noChangeAspect="1"/>
          </p:cNvPicPr>
          <p:nvPr/>
        </p:nvPicPr>
        <p:blipFill>
          <a:blip r:embed="rId2"/>
          <a:stretch>
            <a:fillRect/>
          </a:stretch>
        </p:blipFill>
        <p:spPr>
          <a:xfrm>
            <a:off x="658368" y="1938528"/>
            <a:ext cx="5354563" cy="4507992"/>
          </a:xfrm>
          <a:prstGeom prst="rect">
            <a:avLst/>
          </a:prstGeom>
        </p:spPr>
      </p:pic>
      <p:sp>
        <p:nvSpPr>
          <p:cNvPr id="6" name="TextBox 5"/>
          <p:cNvSpPr txBox="1"/>
          <p:nvPr/>
        </p:nvSpPr>
        <p:spPr>
          <a:xfrm>
            <a:off x="6424411" y="2167128"/>
            <a:ext cx="5108916" cy="3291840"/>
          </a:xfrm>
          <a:prstGeom prst="rect">
            <a:avLst/>
          </a:prstGeom>
          <a:noFill/>
        </p:spPr>
        <p:txBody>
          <a:bodyPr wrap="square" anchor="t">
            <a:spAutoFit/>
          </a:bodyPr>
          <a:lstStyle/>
          <a:p>
            <a:pPr algn="l">
              <a:lnSpc>
                <a:spcPct val="120000"/>
              </a:lnSpc>
              <a:spcAft>
                <a:spcPts val="0"/>
              </a:spcAft>
            </a:pPr>
            <a:r>
              <a:rPr sz="1500" b="0" i="0">
                <a:solidFill>
                  <a:srgbClr val="5A6272"/>
                </a:solidFill>
                <a:latin typeface="Helvetica Neue"/>
              </a:rPr>
              <a:t>Supernova rate against look-back time. Baseline branch: N_SN = 8.43 for the association, P(≥1) = 0.9997, and P(last SN &lt; 100 kyr) = 0.552 — median time since the last explosion 86 kyr.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75488"/>
            <a:ext cx="10874959" cy="274320"/>
          </a:xfrm>
          <a:prstGeom prst="rect">
            <a:avLst/>
          </a:prstGeom>
          <a:noFill/>
        </p:spPr>
        <p:txBody>
          <a:bodyPr wrap="square" anchor="t">
            <a:spAutoFit/>
          </a:bodyPr>
          <a:lstStyle/>
          <a:p>
            <a:pPr algn="l">
              <a:lnSpc>
                <a:spcPct val="100000"/>
              </a:lnSpc>
              <a:spcAft>
                <a:spcPts val="0"/>
              </a:spcAft>
            </a:pPr>
            <a:r>
              <a:rPr sz="1250" b="1" i="0">
                <a:solidFill>
                  <a:srgbClr val="8A92A0"/>
                </a:solidFill>
                <a:latin typeface="Helvetica Neue"/>
              </a:rPr>
              <a:t>RESULT 1 · HONESTY ABOUT BRANCHES</a:t>
            </a:r>
          </a:p>
        </p:txBody>
      </p:sp>
      <p:sp>
        <p:nvSpPr>
          <p:cNvPr id="3" name="TextBox 2"/>
          <p:cNvSpPr txBox="1"/>
          <p:nvPr/>
        </p:nvSpPr>
        <p:spPr>
          <a:xfrm>
            <a:off x="658368" y="804672"/>
            <a:ext cx="10874959" cy="822960"/>
          </a:xfrm>
          <a:prstGeom prst="rect">
            <a:avLst/>
          </a:prstGeom>
          <a:noFill/>
        </p:spPr>
        <p:txBody>
          <a:bodyPr wrap="square" anchor="t">
            <a:spAutoFit/>
          </a:bodyPr>
          <a:lstStyle/>
          <a:p>
            <a:pPr algn="l">
              <a:lnSpc>
                <a:spcPct val="95000"/>
              </a:lnSpc>
              <a:spcAft>
                <a:spcPts val="0"/>
              </a:spcAft>
            </a:pPr>
            <a:r>
              <a:rPr sz="3000" b="1" i="0">
                <a:solidFill>
                  <a:srgbClr val="1A1F2B"/>
                </a:solidFill>
                <a:latin typeface="Helvetica Neue"/>
              </a:rPr>
              <a:t>The number is not a number</a:t>
            </a:r>
          </a:p>
        </p:txBody>
      </p:sp>
      <p:sp>
        <p:nvSpPr>
          <p:cNvPr id="4" name="Rectangle 3"/>
          <p:cNvSpPr/>
          <p:nvPr/>
        </p:nvSpPr>
        <p:spPr>
          <a:xfrm>
            <a:off x="658368" y="1700784"/>
            <a:ext cx="10874959" cy="19050"/>
          </a:xfrm>
          <a:prstGeom prst="rect">
            <a:avLst/>
          </a:prstGeom>
          <a:solidFill>
            <a:srgbClr val="D8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2258568"/>
            <a:ext cx="3417722" cy="2377440"/>
          </a:xfrm>
          <a:prstGeom prst="rect">
            <a:avLst/>
          </a:prstGeom>
          <a:noFill/>
        </p:spPr>
        <p:txBody>
          <a:bodyPr wrap="square" anchor="t">
            <a:spAutoFit/>
          </a:bodyPr>
          <a:lstStyle/>
          <a:p>
            <a:pPr algn="ctr">
              <a:lnSpc>
                <a:spcPct val="95000"/>
              </a:lnSpc>
              <a:spcAft>
                <a:spcPts val="1000"/>
              </a:spcAft>
            </a:pPr>
            <a:r>
              <a:rPr sz="4349" b="1" i="0">
                <a:solidFill>
                  <a:srgbClr val="1A1F2B"/>
                </a:solidFill>
                <a:latin typeface="Helvetica Neue"/>
              </a:rPr>
              <a:t>8.43</a:t>
            </a:r>
          </a:p>
          <a:p>
            <a:pPr algn="ctr">
              <a:lnSpc>
                <a:spcPct val="110000"/>
              </a:lnSpc>
              <a:spcAft>
                <a:spcPts val="0"/>
              </a:spcAft>
            </a:pPr>
            <a:r>
              <a:rPr sz="1450" b="0" i="0">
                <a:solidFill>
                  <a:srgbClr val="5A6272"/>
                </a:solidFill>
                <a:latin typeface="Helvetica Neue"/>
              </a:rPr>
              <a:t>supernovae</a:t>
            </a:r>
          </a:p>
          <a:p>
            <a:pPr algn="ctr">
              <a:lnSpc>
                <a:spcPct val="110000"/>
              </a:lnSpc>
              <a:spcAft>
                <a:spcPts val="0"/>
              </a:spcAft>
            </a:pPr>
            <a:r>
              <a:rPr sz="1450" b="0" i="0">
                <a:solidFill>
                  <a:srgbClr val="5A6272"/>
                </a:solidFill>
                <a:latin typeface="Helvetica Neue"/>
              </a:rPr>
              <a:t>baseline branch</a:t>
            </a:r>
          </a:p>
        </p:txBody>
      </p:sp>
      <p:sp>
        <p:nvSpPr>
          <p:cNvPr id="6" name="TextBox 5"/>
          <p:cNvSpPr txBox="1"/>
          <p:nvPr/>
        </p:nvSpPr>
        <p:spPr>
          <a:xfrm>
            <a:off x="4386986" y="2258568"/>
            <a:ext cx="3417722" cy="2377440"/>
          </a:xfrm>
          <a:prstGeom prst="rect">
            <a:avLst/>
          </a:prstGeom>
          <a:noFill/>
        </p:spPr>
        <p:txBody>
          <a:bodyPr wrap="square" anchor="t">
            <a:spAutoFit/>
          </a:bodyPr>
          <a:lstStyle/>
          <a:p>
            <a:pPr algn="ctr">
              <a:lnSpc>
                <a:spcPct val="95000"/>
              </a:lnSpc>
              <a:spcAft>
                <a:spcPts val="1000"/>
              </a:spcAft>
            </a:pPr>
            <a:r>
              <a:rPr sz="4349" b="1" i="0">
                <a:solidFill>
                  <a:srgbClr val="C4622D"/>
                </a:solidFill>
                <a:latin typeface="Helvetica Neue"/>
              </a:rPr>
              <a:t>5.63–28.7</a:t>
            </a:r>
          </a:p>
          <a:p>
            <a:pPr algn="ctr">
              <a:lnSpc>
                <a:spcPct val="110000"/>
              </a:lnSpc>
              <a:spcAft>
                <a:spcPts val="0"/>
              </a:spcAft>
            </a:pPr>
            <a:r>
              <a:rPr sz="1450" b="0" i="0">
                <a:solidFill>
                  <a:srgbClr val="5A6272"/>
                </a:solidFill>
                <a:latin typeface="Helvetica Neue"/>
              </a:rPr>
              <a:t>across the 36</a:t>
            </a:r>
          </a:p>
          <a:p>
            <a:pPr algn="ctr">
              <a:lnSpc>
                <a:spcPct val="110000"/>
              </a:lnSpc>
              <a:spcAft>
                <a:spcPts val="0"/>
              </a:spcAft>
            </a:pPr>
            <a:r>
              <a:rPr sz="1450" b="0" i="0">
                <a:solidFill>
                  <a:srgbClr val="5A6272"/>
                </a:solidFill>
                <a:latin typeface="Helvetica Neue"/>
              </a:rPr>
              <a:t>headline branches</a:t>
            </a:r>
          </a:p>
        </p:txBody>
      </p:sp>
      <p:sp>
        <p:nvSpPr>
          <p:cNvPr id="7" name="TextBox 6"/>
          <p:cNvSpPr txBox="1"/>
          <p:nvPr/>
        </p:nvSpPr>
        <p:spPr>
          <a:xfrm>
            <a:off x="8115604" y="2258568"/>
            <a:ext cx="3417722" cy="2377440"/>
          </a:xfrm>
          <a:prstGeom prst="rect">
            <a:avLst/>
          </a:prstGeom>
          <a:noFill/>
        </p:spPr>
        <p:txBody>
          <a:bodyPr wrap="square" anchor="t">
            <a:spAutoFit/>
          </a:bodyPr>
          <a:lstStyle/>
          <a:p>
            <a:pPr algn="ctr">
              <a:lnSpc>
                <a:spcPct val="95000"/>
              </a:lnSpc>
              <a:spcAft>
                <a:spcPts val="1000"/>
              </a:spcAft>
            </a:pPr>
            <a:r>
              <a:rPr sz="4349" b="1" i="0">
                <a:solidFill>
                  <a:srgbClr val="C4622D"/>
                </a:solidFill>
                <a:latin typeface="Helvetica Neue"/>
              </a:rPr>
              <a:t>×5.1</a:t>
            </a:r>
          </a:p>
          <a:p>
            <a:pPr algn="ctr">
              <a:lnSpc>
                <a:spcPct val="110000"/>
              </a:lnSpc>
              <a:spcAft>
                <a:spcPts val="0"/>
              </a:spcAft>
            </a:pPr>
            <a:r>
              <a:rPr sz="1450" b="0" i="0">
                <a:solidFill>
                  <a:srgbClr val="5A6272"/>
                </a:solidFill>
                <a:latin typeface="Helvetica Neue"/>
              </a:rPr>
              <a:t>spread, driven</a:t>
            </a:r>
          </a:p>
          <a:p>
            <a:pPr algn="ctr">
              <a:lnSpc>
                <a:spcPct val="110000"/>
              </a:lnSpc>
              <a:spcAft>
                <a:spcPts val="0"/>
              </a:spcAft>
            </a:pPr>
            <a:r>
              <a:rPr sz="1450" b="0" i="0">
                <a:solidFill>
                  <a:srgbClr val="5A6272"/>
                </a:solidFill>
                <a:latin typeface="Helvetica Neue"/>
              </a:rPr>
              <a:t>mainly by the IMF slope</a:t>
            </a:r>
          </a:p>
        </p:txBody>
      </p:sp>
      <p:sp>
        <p:nvSpPr>
          <p:cNvPr id="8" name="TextBox 7"/>
          <p:cNvSpPr txBox="1"/>
          <p:nvPr/>
        </p:nvSpPr>
        <p:spPr>
          <a:xfrm>
            <a:off x="658368" y="5257800"/>
            <a:ext cx="10874959" cy="1005840"/>
          </a:xfrm>
          <a:prstGeom prst="rect">
            <a:avLst/>
          </a:prstGeom>
          <a:noFill/>
        </p:spPr>
        <p:txBody>
          <a:bodyPr wrap="square" anchor="t">
            <a:spAutoFit/>
          </a:bodyPr>
          <a:lstStyle/>
          <a:p>
            <a:pPr algn="l">
              <a:lnSpc>
                <a:spcPct val="110000"/>
              </a:lnSpc>
              <a:spcAft>
                <a:spcPts val="0"/>
              </a:spcAft>
            </a:pPr>
            <a:r>
              <a:rPr sz="1600" b="0" i="0">
                <a:solidFill>
                  <a:srgbClr val="1A1F2B"/>
                </a:solidFill>
                <a:latin typeface="Helvetica Neue"/>
              </a:rPr>
              <a:t>We report the range, not a consensus value, and we never average branches. A single headline number here would be a fiction — the model choices are not resolved by the data.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2103120"/>
            <a:ext cx="10874959" cy="2560320"/>
          </a:xfrm>
          <a:prstGeom prst="rect">
            <a:avLst/>
          </a:prstGeom>
          <a:noFill/>
        </p:spPr>
        <p:txBody>
          <a:bodyPr wrap="square" anchor="t">
            <a:spAutoFit/>
          </a:bodyPr>
          <a:lstStyle/>
          <a:p>
            <a:pPr algn="l">
              <a:lnSpc>
                <a:spcPct val="100000"/>
              </a:lnSpc>
              <a:spcAft>
                <a:spcPts val="1800"/>
              </a:spcAft>
            </a:pPr>
            <a:r>
              <a:rPr sz="1250" b="1" i="0">
                <a:solidFill>
                  <a:srgbClr val="8A92A0"/>
                </a:solidFill>
                <a:latin typeface="Helvetica Neue"/>
              </a:rPr>
              <a:t>RESULT 2 · THE STRUCTURAL FINDING</a:t>
            </a:r>
          </a:p>
          <a:p>
            <a:pPr algn="l">
              <a:lnSpc>
                <a:spcPct val="102000"/>
              </a:lnSpc>
              <a:spcAft>
                <a:spcPts val="2000"/>
              </a:spcAft>
            </a:pPr>
            <a:r>
              <a:rPr sz="3800" b="1" i="0">
                <a:solidFill>
                  <a:srgbClr val="C4622D"/>
                </a:solidFill>
                <a:latin typeface="Helvetica Neue"/>
              </a:rPr>
              <a:t>The entire supernova budget lies above 30 M⊙.</a:t>
            </a:r>
          </a:p>
          <a:p>
            <a:pPr algn="l">
              <a:lnSpc>
                <a:spcPct val="115000"/>
              </a:lnSpc>
              <a:spcAft>
                <a:spcPts val="0"/>
              </a:spcAft>
            </a:pPr>
            <a:r>
              <a:rPr sz="1800" b="0" i="0">
                <a:solidFill>
                  <a:srgbClr val="1A1F2B"/>
                </a:solidFill>
                <a:latin typeface="Helvetica Neue"/>
              </a:rPr>
              <a:t>For any black-hole threshold at or below 30 M⊙, the ledger returns EXACTLY ZERO on every branch. The lowest-mass star that has died anywhere in the grid is 33.9 M⊙. So the whole result is conditional on whether very massive stars explode at all — which is unsettled physics.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75488"/>
            <a:ext cx="10874959" cy="274320"/>
          </a:xfrm>
          <a:prstGeom prst="rect">
            <a:avLst/>
          </a:prstGeom>
          <a:noFill/>
        </p:spPr>
        <p:txBody>
          <a:bodyPr wrap="square" anchor="t">
            <a:spAutoFit/>
          </a:bodyPr>
          <a:lstStyle/>
          <a:p>
            <a:pPr algn="l">
              <a:lnSpc>
                <a:spcPct val="100000"/>
              </a:lnSpc>
              <a:spcAft>
                <a:spcPts val="0"/>
              </a:spcAft>
            </a:pPr>
            <a:r>
              <a:rPr sz="1250" b="1" i="0">
                <a:solidFill>
                  <a:srgbClr val="8A92A0"/>
                </a:solidFill>
                <a:latin typeface="Helvetica Neue"/>
              </a:rPr>
              <a:t>EXTERNAL CROSS-CHECK</a:t>
            </a:r>
          </a:p>
        </p:txBody>
      </p:sp>
      <p:sp>
        <p:nvSpPr>
          <p:cNvPr id="3" name="TextBox 2"/>
          <p:cNvSpPr txBox="1"/>
          <p:nvPr/>
        </p:nvSpPr>
        <p:spPr>
          <a:xfrm>
            <a:off x="658368" y="804672"/>
            <a:ext cx="10874959" cy="822960"/>
          </a:xfrm>
          <a:prstGeom prst="rect">
            <a:avLst/>
          </a:prstGeom>
          <a:noFill/>
        </p:spPr>
        <p:txBody>
          <a:bodyPr wrap="square" anchor="t">
            <a:spAutoFit/>
          </a:bodyPr>
          <a:lstStyle/>
          <a:p>
            <a:pPr algn="l">
              <a:lnSpc>
                <a:spcPct val="95000"/>
              </a:lnSpc>
              <a:spcAft>
                <a:spcPts val="0"/>
              </a:spcAft>
            </a:pPr>
            <a:r>
              <a:rPr sz="3000" b="1" i="0">
                <a:solidFill>
                  <a:srgbClr val="1A1F2B"/>
                </a:solidFill>
                <a:latin typeface="Helvetica Neue"/>
              </a:rPr>
              <a:t>An observation we already had rules out the zero branch</a:t>
            </a:r>
          </a:p>
        </p:txBody>
      </p:sp>
      <p:sp>
        <p:nvSpPr>
          <p:cNvPr id="4" name="Rectangle 3"/>
          <p:cNvSpPr/>
          <p:nvPr/>
        </p:nvSpPr>
        <p:spPr>
          <a:xfrm>
            <a:off x="658368" y="1700784"/>
            <a:ext cx="10874959" cy="19050"/>
          </a:xfrm>
          <a:prstGeom prst="rect">
            <a:avLst/>
          </a:prstGeom>
          <a:solidFill>
            <a:srgbClr val="D8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938528"/>
            <a:ext cx="10874959" cy="4206240"/>
          </a:xfrm>
          <a:prstGeom prst="rect">
            <a:avLst/>
          </a:prstGeom>
          <a:noFill/>
        </p:spPr>
        <p:txBody>
          <a:bodyPr wrap="square" anchor="t">
            <a:spAutoFit/>
          </a:bodyPr>
          <a:lstStyle/>
          <a:p>
            <a:pPr algn="l">
              <a:lnSpc>
                <a:spcPct val="105000"/>
              </a:lnSpc>
              <a:spcAft>
                <a:spcPts val="1500"/>
              </a:spcAft>
            </a:pPr>
            <a:r>
              <a:rPr sz="1650" b="0" i="0">
                <a:solidFill>
                  <a:srgbClr val="1A1F2B"/>
                </a:solidFill>
                <a:latin typeface="Helvetica Neue"/>
              </a:rPr>
              <a:t>PSR J2032+4127 is a neutron star inside Cyg OB2 — and neutron stars require a SUCCESSFUL explosion.</a:t>
            </a:r>
          </a:p>
          <a:p>
            <a:pPr algn="l">
              <a:lnSpc>
                <a:spcPct val="105000"/>
              </a:lnSpc>
              <a:spcAft>
                <a:spcPts val="1500"/>
              </a:spcAft>
            </a:pPr>
            <a:r>
              <a:rPr sz="1650" b="1" i="0">
                <a:solidFill>
                  <a:srgbClr val="3B6EA8"/>
                </a:solidFill>
                <a:latin typeface="Helvetica Neue"/>
              </a:rPr>
              <a:t>Ledger: P(≥1 SN) = 0.9997 if massive stars explode, against exactly 0 on the black-hole branch.</a:t>
            </a:r>
          </a:p>
          <a:p>
            <a:pPr algn="l">
              <a:lnSpc>
                <a:spcPct val="105000"/>
              </a:lnSpc>
              <a:spcAft>
                <a:spcPts val="1500"/>
              </a:spcAft>
            </a:pPr>
            <a:r>
              <a:rPr sz="1650" b="0" i="0">
                <a:solidFill>
                  <a:srgbClr val="1A1F2B"/>
                </a:solidFill>
                <a:latin typeface="Helvetica Neue"/>
              </a:rPr>
              <a:t>Its companion MT91 213 is our own census star — a B0V of 17 M⊙, 0.115° from the CygOB2-A centroid, already counted.</a:t>
            </a:r>
          </a:p>
          <a:p>
            <a:pPr algn="l">
              <a:lnSpc>
                <a:spcPct val="105000"/>
              </a:lnSpc>
              <a:spcAft>
                <a:spcPts val="1500"/>
              </a:spcAft>
            </a:pPr>
            <a:r>
              <a:rPr sz="1650" b="0" i="0">
                <a:solidFill>
                  <a:srgbClr val="1A1F2B"/>
                </a:solidFill>
                <a:latin typeface="Helvetica Neue"/>
              </a:rPr>
              <a:t>Age agrees too: characteristic age widened to 151–401 kyr against a ledger probability of 0.960 that the last supernova falls in that window.</a:t>
            </a:r>
          </a:p>
          <a:p>
            <a:pPr algn="l">
              <a:lnSpc>
                <a:spcPct val="105000"/>
              </a:lnSpc>
              <a:spcAft>
                <a:spcPts val="1500"/>
              </a:spcAft>
            </a:pPr>
            <a:r>
              <a:rPr sz="1650" b="0" i="0">
                <a:solidFill>
                  <a:srgbClr val="5A6272"/>
                </a:solidFill>
                <a:latin typeface="Helvetica Neue"/>
              </a:rPr>
              <a:t>Three readings remain degenerate — high-mass explodability, an older population, or binary stripping. All three give a non-zero budget, which is what the argument needs.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A1F2B"/>
        </a:solidFill>
        <a:effectLst/>
      </p:bgPr>
    </p:bg>
    <p:spTree>
      <p:nvGrpSpPr>
        <p:cNvPr id="1" name=""/>
        <p:cNvGrpSpPr/>
        <p:nvPr/>
      </p:nvGrpSpPr>
      <p:grpSpPr/>
      <p:sp>
        <p:nvSpPr>
          <p:cNvPr id="2" name="TextBox 1"/>
          <p:cNvSpPr txBox="1"/>
          <p:nvPr/>
        </p:nvSpPr>
        <p:spPr>
          <a:xfrm>
            <a:off x="658368" y="2651760"/>
            <a:ext cx="10424160" cy="1828800"/>
          </a:xfrm>
          <a:prstGeom prst="rect">
            <a:avLst/>
          </a:prstGeom>
          <a:noFill/>
        </p:spPr>
        <p:txBody>
          <a:bodyPr wrap="square" anchor="t">
            <a:spAutoFit/>
          </a:bodyPr>
          <a:lstStyle/>
          <a:p>
            <a:pPr algn="l">
              <a:lnSpc>
                <a:spcPct val="100000"/>
              </a:lnSpc>
              <a:spcAft>
                <a:spcPts val="1400"/>
              </a:spcAft>
            </a:pPr>
            <a:r>
              <a:rPr sz="1300" b="1" i="0">
                <a:solidFill>
                  <a:srgbClr val="8A92A0"/>
                </a:solidFill>
                <a:latin typeface="Helvetica Neue"/>
              </a:rPr>
              <a:t>5</a:t>
            </a:r>
          </a:p>
          <a:p>
            <a:pPr algn="l">
              <a:lnSpc>
                <a:spcPct val="100000"/>
              </a:lnSpc>
              <a:spcAft>
                <a:spcPts val="1200"/>
              </a:spcAft>
            </a:pPr>
            <a:r>
              <a:rPr sz="4400" b="1" i="0">
                <a:solidFill>
                  <a:srgbClr val="FFFFFF"/>
                </a:solidFill>
                <a:latin typeface="Helvetica Neue"/>
              </a:rPr>
              <a:t>The verdict</a:t>
            </a:r>
          </a:p>
          <a:p>
            <a:pPr algn="l">
              <a:lnSpc>
                <a:spcPct val="100000"/>
              </a:lnSpc>
              <a:spcAft>
                <a:spcPts val="0"/>
              </a:spcAft>
            </a:pPr>
            <a:r>
              <a:rPr sz="1700" b="0" i="0">
                <a:solidFill>
                  <a:srgbClr val="9FB4CE"/>
                </a:solidFill>
                <a:latin typeface="Helvetica Neue"/>
              </a:rPr>
              <a:t>One application of the ledger — decided by a rule fixed in advance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75488"/>
            <a:ext cx="10874959" cy="274320"/>
          </a:xfrm>
          <a:prstGeom prst="rect">
            <a:avLst/>
          </a:prstGeom>
          <a:noFill/>
        </p:spPr>
        <p:txBody>
          <a:bodyPr wrap="square" anchor="t">
            <a:spAutoFit/>
          </a:bodyPr>
          <a:lstStyle/>
          <a:p>
            <a:pPr algn="l">
              <a:lnSpc>
                <a:spcPct val="100000"/>
              </a:lnSpc>
              <a:spcAft>
                <a:spcPts val="0"/>
              </a:spcAft>
            </a:pPr>
            <a:r>
              <a:rPr sz="1250" b="1" i="0">
                <a:solidFill>
                  <a:srgbClr val="8A92A0"/>
                </a:solidFill>
                <a:latin typeface="Helvetica Neue"/>
              </a:rPr>
              <a:t>RESULT 3</a:t>
            </a:r>
          </a:p>
        </p:txBody>
      </p:sp>
      <p:sp>
        <p:nvSpPr>
          <p:cNvPr id="3" name="TextBox 2"/>
          <p:cNvSpPr txBox="1"/>
          <p:nvPr/>
        </p:nvSpPr>
        <p:spPr>
          <a:xfrm>
            <a:off x="658368" y="804672"/>
            <a:ext cx="10874959" cy="822960"/>
          </a:xfrm>
          <a:prstGeom prst="rect">
            <a:avLst/>
          </a:prstGeom>
          <a:noFill/>
        </p:spPr>
        <p:txBody>
          <a:bodyPr wrap="square" anchor="t">
            <a:spAutoFit/>
          </a:bodyPr>
          <a:lstStyle/>
          <a:p>
            <a:pPr algn="l">
              <a:lnSpc>
                <a:spcPct val="95000"/>
              </a:lnSpc>
              <a:spcAft>
                <a:spcPts val="0"/>
              </a:spcAft>
            </a:pPr>
            <a:r>
              <a:rPr sz="3000" b="1" i="0">
                <a:solidFill>
                  <a:srgbClr val="1A1F2B"/>
                </a:solidFill>
                <a:latin typeface="Helvetica Neue"/>
              </a:rPr>
              <a:t>Is the supernova-PeVatron scenario supported?</a:t>
            </a:r>
          </a:p>
        </p:txBody>
      </p:sp>
      <p:sp>
        <p:nvSpPr>
          <p:cNvPr id="4" name="Rectangle 3"/>
          <p:cNvSpPr/>
          <p:nvPr/>
        </p:nvSpPr>
        <p:spPr>
          <a:xfrm>
            <a:off x="658368" y="1700784"/>
            <a:ext cx="10874959" cy="19050"/>
          </a:xfrm>
          <a:prstGeom prst="rect">
            <a:avLst/>
          </a:prstGeom>
          <a:solidFill>
            <a:srgbClr val="D8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6_verdict_branches.png"/>
          <p:cNvPicPr>
            <a:picLocks noChangeAspect="1"/>
          </p:cNvPicPr>
          <p:nvPr/>
        </p:nvPicPr>
        <p:blipFill>
          <a:blip r:embed="rId2"/>
          <a:stretch>
            <a:fillRect/>
          </a:stretch>
        </p:blipFill>
        <p:spPr>
          <a:xfrm>
            <a:off x="2759811" y="1938528"/>
            <a:ext cx="6672072" cy="3639312"/>
          </a:xfrm>
          <a:prstGeom prst="rect">
            <a:avLst/>
          </a:prstGeom>
        </p:spPr>
      </p:pic>
      <p:sp>
        <p:nvSpPr>
          <p:cNvPr id="6" name="TextBox 5"/>
          <p:cNvSpPr txBox="1"/>
          <p:nvPr/>
        </p:nvSpPr>
        <p:spPr>
          <a:xfrm>
            <a:off x="658368" y="5742432"/>
            <a:ext cx="10874959" cy="868680"/>
          </a:xfrm>
          <a:prstGeom prst="rect">
            <a:avLst/>
          </a:prstGeom>
          <a:noFill/>
        </p:spPr>
        <p:txBody>
          <a:bodyPr wrap="square" anchor="t">
            <a:spAutoFit/>
          </a:bodyPr>
          <a:lstStyle/>
          <a:p>
            <a:pPr algn="l">
              <a:lnSpc>
                <a:spcPct val="112000"/>
              </a:lnSpc>
              <a:spcAft>
                <a:spcPts val="0"/>
              </a:spcAft>
            </a:pPr>
            <a:r>
              <a:rPr sz="1450" b="0" i="0">
                <a:solidFill>
                  <a:srgbClr val="5A6272"/>
                </a:solidFill>
                <a:latin typeface="Helvetica Neue"/>
              </a:rPr>
              <a:t>P(verdict) per branch = P(right age) × P(right progenitor type) × P(in situ). Range 0.323–0.735, median 0.533. The explosion energy is NOT multiplied in — it is reported as a stated conditional.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75488"/>
            <a:ext cx="10874959" cy="274320"/>
          </a:xfrm>
          <a:prstGeom prst="rect">
            <a:avLst/>
          </a:prstGeom>
          <a:noFill/>
        </p:spPr>
        <p:txBody>
          <a:bodyPr wrap="square" anchor="t">
            <a:spAutoFit/>
          </a:bodyPr>
          <a:lstStyle/>
          <a:p>
            <a:pPr algn="l">
              <a:lnSpc>
                <a:spcPct val="100000"/>
              </a:lnSpc>
              <a:spcAft>
                <a:spcPts val="0"/>
              </a:spcAft>
            </a:pPr>
            <a:r>
              <a:rPr sz="1250" b="1" i="0">
                <a:solidFill>
                  <a:srgbClr val="8A92A0"/>
                </a:solidFill>
                <a:latin typeface="Helvetica Neue"/>
              </a:rPr>
              <a:t>RESULT 3 · WHERE THE UNCERTAINTY LIVES</a:t>
            </a:r>
          </a:p>
        </p:txBody>
      </p:sp>
      <p:sp>
        <p:nvSpPr>
          <p:cNvPr id="3" name="TextBox 2"/>
          <p:cNvSpPr txBox="1"/>
          <p:nvPr/>
        </p:nvSpPr>
        <p:spPr>
          <a:xfrm>
            <a:off x="658368" y="804672"/>
            <a:ext cx="10874959" cy="822960"/>
          </a:xfrm>
          <a:prstGeom prst="rect">
            <a:avLst/>
          </a:prstGeom>
          <a:noFill/>
        </p:spPr>
        <p:txBody>
          <a:bodyPr wrap="square" anchor="t">
            <a:spAutoFit/>
          </a:bodyPr>
          <a:lstStyle/>
          <a:p>
            <a:pPr algn="l">
              <a:lnSpc>
                <a:spcPct val="95000"/>
              </a:lnSpc>
              <a:spcAft>
                <a:spcPts val="0"/>
              </a:spcAft>
            </a:pPr>
            <a:r>
              <a:rPr sz="3000" b="1" i="0">
                <a:solidFill>
                  <a:srgbClr val="1A1F2B"/>
                </a:solidFill>
                <a:latin typeface="Helvetica Neue"/>
              </a:rPr>
              <a:t>The verdict hinges on one axis, and only one</a:t>
            </a:r>
          </a:p>
        </p:txBody>
      </p:sp>
      <p:sp>
        <p:nvSpPr>
          <p:cNvPr id="4" name="Rectangle 3"/>
          <p:cNvSpPr/>
          <p:nvPr/>
        </p:nvSpPr>
        <p:spPr>
          <a:xfrm>
            <a:off x="658368" y="1700784"/>
            <a:ext cx="10874959" cy="19050"/>
          </a:xfrm>
          <a:prstGeom prst="rect">
            <a:avLst/>
          </a:prstGeom>
          <a:solidFill>
            <a:srgbClr val="D8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2258568"/>
            <a:ext cx="3417722" cy="2377440"/>
          </a:xfrm>
          <a:prstGeom prst="rect">
            <a:avLst/>
          </a:prstGeom>
          <a:noFill/>
        </p:spPr>
        <p:txBody>
          <a:bodyPr wrap="square" anchor="t">
            <a:spAutoFit/>
          </a:bodyPr>
          <a:lstStyle/>
          <a:p>
            <a:pPr algn="ctr">
              <a:lnSpc>
                <a:spcPct val="95000"/>
              </a:lnSpc>
              <a:spcAft>
                <a:spcPts val="1000"/>
              </a:spcAft>
            </a:pPr>
            <a:r>
              <a:rPr sz="3558" b="1" i="0">
                <a:solidFill>
                  <a:srgbClr val="3B6EA8"/>
                </a:solidFill>
                <a:latin typeface="Helvetica Neue"/>
              </a:rPr>
              <a:t>0.593–0.735</a:t>
            </a:r>
          </a:p>
          <a:p>
            <a:pPr algn="ctr">
              <a:lnSpc>
                <a:spcPct val="110000"/>
              </a:lnSpc>
              <a:spcAft>
                <a:spcPts val="0"/>
              </a:spcAft>
            </a:pPr>
            <a:r>
              <a:rPr sz="1450" b="0" i="0">
                <a:solidFill>
                  <a:srgbClr val="5A6272"/>
                </a:solidFill>
                <a:latin typeface="Helvetica Neue"/>
              </a:rPr>
              <a:t>α = 2.0 branches</a:t>
            </a:r>
          </a:p>
          <a:p>
            <a:pPr algn="ctr">
              <a:lnSpc>
                <a:spcPct val="110000"/>
              </a:lnSpc>
              <a:spcAft>
                <a:spcPts val="0"/>
              </a:spcAft>
            </a:pPr>
            <a:r>
              <a:rPr sz="1450" b="0" i="0">
                <a:solidFill>
                  <a:srgbClr val="5A6272"/>
                </a:solidFill>
                <a:latin typeface="Helvetica Neue"/>
              </a:rPr>
              <a:t>18/18 support the scenario</a:t>
            </a:r>
          </a:p>
        </p:txBody>
      </p:sp>
      <p:sp>
        <p:nvSpPr>
          <p:cNvPr id="6" name="TextBox 5"/>
          <p:cNvSpPr txBox="1"/>
          <p:nvPr/>
        </p:nvSpPr>
        <p:spPr>
          <a:xfrm>
            <a:off x="4386986" y="2258568"/>
            <a:ext cx="3417722" cy="2377440"/>
          </a:xfrm>
          <a:prstGeom prst="rect">
            <a:avLst/>
          </a:prstGeom>
          <a:noFill/>
        </p:spPr>
        <p:txBody>
          <a:bodyPr wrap="square" anchor="t">
            <a:spAutoFit/>
          </a:bodyPr>
          <a:lstStyle/>
          <a:p>
            <a:pPr algn="ctr">
              <a:lnSpc>
                <a:spcPct val="95000"/>
              </a:lnSpc>
              <a:spcAft>
                <a:spcPts val="1000"/>
              </a:spcAft>
            </a:pPr>
            <a:r>
              <a:rPr sz="3558" b="1" i="0">
                <a:solidFill>
                  <a:srgbClr val="C4622D"/>
                </a:solidFill>
                <a:latin typeface="Helvetica Neue"/>
              </a:rPr>
              <a:t>0.323–0.474</a:t>
            </a:r>
          </a:p>
          <a:p>
            <a:pPr algn="ctr">
              <a:lnSpc>
                <a:spcPct val="110000"/>
              </a:lnSpc>
              <a:spcAft>
                <a:spcPts val="0"/>
              </a:spcAft>
            </a:pPr>
            <a:r>
              <a:rPr sz="1450" b="0" i="0">
                <a:solidFill>
                  <a:srgbClr val="5A6272"/>
                </a:solidFill>
                <a:latin typeface="Helvetica Neue"/>
              </a:rPr>
              <a:t>α = 2.3 branches</a:t>
            </a:r>
          </a:p>
          <a:p>
            <a:pPr algn="ctr">
              <a:lnSpc>
                <a:spcPct val="110000"/>
              </a:lnSpc>
              <a:spcAft>
                <a:spcPts val="0"/>
              </a:spcAft>
            </a:pPr>
            <a:r>
              <a:rPr sz="1450" b="0" i="0">
                <a:solidFill>
                  <a:srgbClr val="5A6272"/>
                </a:solidFill>
                <a:latin typeface="Helvetica Neue"/>
              </a:rPr>
              <a:t>0/18 support it</a:t>
            </a:r>
          </a:p>
        </p:txBody>
      </p:sp>
      <p:sp>
        <p:nvSpPr>
          <p:cNvPr id="7" name="TextBox 6"/>
          <p:cNvSpPr txBox="1"/>
          <p:nvPr/>
        </p:nvSpPr>
        <p:spPr>
          <a:xfrm>
            <a:off x="8115604" y="2258568"/>
            <a:ext cx="3417722" cy="2377440"/>
          </a:xfrm>
          <a:prstGeom prst="rect">
            <a:avLst/>
          </a:prstGeom>
          <a:noFill/>
        </p:spPr>
        <p:txBody>
          <a:bodyPr wrap="square" anchor="t">
            <a:spAutoFit/>
          </a:bodyPr>
          <a:lstStyle/>
          <a:p>
            <a:pPr algn="ctr">
              <a:lnSpc>
                <a:spcPct val="95000"/>
              </a:lnSpc>
              <a:spcAft>
                <a:spcPts val="1000"/>
              </a:spcAft>
            </a:pPr>
            <a:r>
              <a:rPr sz="3558" b="1" i="0">
                <a:solidFill>
                  <a:srgbClr val="1A1F2B"/>
                </a:solidFill>
                <a:latin typeface="Helvetica Neue"/>
              </a:rPr>
              <a:t>0.264</a:t>
            </a:r>
          </a:p>
          <a:p>
            <a:pPr algn="ctr">
              <a:lnSpc>
                <a:spcPct val="110000"/>
              </a:lnSpc>
              <a:spcAft>
                <a:spcPts val="0"/>
              </a:spcAft>
            </a:pPr>
            <a:r>
              <a:rPr sz="1450" b="0" i="0">
                <a:solidFill>
                  <a:srgbClr val="5A6272"/>
                </a:solidFill>
                <a:latin typeface="Helvetica Neue"/>
              </a:rPr>
              <a:t>spread from α, against</a:t>
            </a:r>
          </a:p>
          <a:p>
            <a:pPr algn="ctr">
              <a:lnSpc>
                <a:spcPct val="110000"/>
              </a:lnSpc>
              <a:spcAft>
                <a:spcPts val="0"/>
              </a:spcAft>
            </a:pPr>
            <a:r>
              <a:rPr sz="1450" b="0" i="0">
                <a:solidFill>
                  <a:srgbClr val="5A6272"/>
                </a:solidFill>
                <a:latin typeface="Helvetica Neue"/>
              </a:rPr>
              <a:t>0.045 for isochrones</a:t>
            </a:r>
          </a:p>
        </p:txBody>
      </p:sp>
      <p:sp>
        <p:nvSpPr>
          <p:cNvPr id="8" name="TextBox 7"/>
          <p:cNvSpPr txBox="1"/>
          <p:nvPr/>
        </p:nvSpPr>
        <p:spPr>
          <a:xfrm>
            <a:off x="658368" y="5257800"/>
            <a:ext cx="10874959" cy="1005840"/>
          </a:xfrm>
          <a:prstGeom prst="rect">
            <a:avLst/>
          </a:prstGeom>
          <a:noFill/>
        </p:spPr>
        <p:txBody>
          <a:bodyPr wrap="square" anchor="t">
            <a:spAutoFit/>
          </a:bodyPr>
          <a:lstStyle/>
          <a:p>
            <a:pPr algn="l">
              <a:lnSpc>
                <a:spcPct val="110000"/>
              </a:lnSpc>
              <a:spcAft>
                <a:spcPts val="0"/>
              </a:spcAft>
            </a:pPr>
            <a:r>
              <a:rPr sz="1600" b="0" i="0">
                <a:solidFill>
                  <a:srgbClr val="1A1F2B"/>
                </a:solidFill>
                <a:latin typeface="Helvetica Neue"/>
              </a:rPr>
              <a:t>The 0.5 boundary falls exactly between the two arms. The pre-registered rule therefore returns INCONCLUSIVE — and we wrote a regular article rather than a Letter, mechanically, because that is what the rule said.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A1F2B"/>
        </a:solidFill>
        <a:effectLst/>
      </p:bgPr>
    </p:bg>
    <p:spTree>
      <p:nvGrpSpPr>
        <p:cNvPr id="1" name=""/>
        <p:cNvGrpSpPr/>
        <p:nvPr/>
      </p:nvGrpSpPr>
      <p:grpSpPr/>
      <p:sp>
        <p:nvSpPr>
          <p:cNvPr id="2" name="TextBox 1"/>
          <p:cNvSpPr txBox="1"/>
          <p:nvPr/>
        </p:nvSpPr>
        <p:spPr>
          <a:xfrm>
            <a:off x="658368" y="2651760"/>
            <a:ext cx="10424160" cy="1828800"/>
          </a:xfrm>
          <a:prstGeom prst="rect">
            <a:avLst/>
          </a:prstGeom>
          <a:noFill/>
        </p:spPr>
        <p:txBody>
          <a:bodyPr wrap="square" anchor="t">
            <a:spAutoFit/>
          </a:bodyPr>
          <a:lstStyle/>
          <a:p>
            <a:pPr algn="l">
              <a:lnSpc>
                <a:spcPct val="100000"/>
              </a:lnSpc>
              <a:spcAft>
                <a:spcPts val="1400"/>
              </a:spcAft>
            </a:pPr>
            <a:r>
              <a:rPr sz="1300" b="1" i="0">
                <a:solidFill>
                  <a:srgbClr val="8A92A0"/>
                </a:solidFill>
                <a:latin typeface="Helvetica Neue"/>
              </a:rPr>
              <a:t>6</a:t>
            </a:r>
          </a:p>
          <a:p>
            <a:pPr algn="l">
              <a:lnSpc>
                <a:spcPct val="100000"/>
              </a:lnSpc>
              <a:spcAft>
                <a:spcPts val="1200"/>
              </a:spcAft>
            </a:pPr>
            <a:r>
              <a:rPr sz="4400" b="1" i="0">
                <a:solidFill>
                  <a:srgbClr val="FFFFFF"/>
                </a:solidFill>
                <a:latin typeface="Helvetica Neue"/>
              </a:rPr>
              <a:t>A forward prediction</a:t>
            </a:r>
          </a:p>
          <a:p>
            <a:pPr algn="l">
              <a:lnSpc>
                <a:spcPct val="100000"/>
              </a:lnSpc>
              <a:spcAft>
                <a:spcPts val="0"/>
              </a:spcAft>
            </a:pPr>
            <a:r>
              <a:rPr sz="1700" b="0" i="0">
                <a:solidFill>
                  <a:srgbClr val="9FB4CE"/>
                </a:solidFill>
                <a:latin typeface="Helvetica Neue"/>
              </a:rPr>
              <a:t>Making the ledger falsifiable — with an instrument launching in 2027</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75488"/>
            <a:ext cx="10874959" cy="274320"/>
          </a:xfrm>
          <a:prstGeom prst="rect">
            <a:avLst/>
          </a:prstGeom>
          <a:noFill/>
        </p:spPr>
        <p:txBody>
          <a:bodyPr wrap="square" anchor="t">
            <a:spAutoFit/>
          </a:bodyPr>
          <a:lstStyle/>
          <a:p>
            <a:pPr algn="l">
              <a:lnSpc>
                <a:spcPct val="100000"/>
              </a:lnSpc>
              <a:spcAft>
                <a:spcPts val="0"/>
              </a:spcAft>
            </a:pPr>
            <a:r>
              <a:rPr sz="1250" b="1" i="0">
                <a:solidFill>
                  <a:srgbClr val="8A92A0"/>
                </a:solidFill>
                <a:latin typeface="Helvetica Neue"/>
              </a:rPr>
              <a:t>THE PROBLEM WITH WAITING</a:t>
            </a:r>
          </a:p>
        </p:txBody>
      </p:sp>
      <p:sp>
        <p:nvSpPr>
          <p:cNvPr id="3" name="TextBox 2"/>
          <p:cNvSpPr txBox="1"/>
          <p:nvPr/>
        </p:nvSpPr>
        <p:spPr>
          <a:xfrm>
            <a:off x="658368" y="804672"/>
            <a:ext cx="10874959" cy="822960"/>
          </a:xfrm>
          <a:prstGeom prst="rect">
            <a:avLst/>
          </a:prstGeom>
          <a:noFill/>
        </p:spPr>
        <p:txBody>
          <a:bodyPr wrap="square" anchor="t">
            <a:spAutoFit/>
          </a:bodyPr>
          <a:lstStyle/>
          <a:p>
            <a:pPr algn="l">
              <a:lnSpc>
                <a:spcPct val="95000"/>
              </a:lnSpc>
              <a:spcAft>
                <a:spcPts val="0"/>
              </a:spcAft>
            </a:pPr>
            <a:r>
              <a:rPr sz="3000" b="1" i="0">
                <a:solidFill>
                  <a:srgbClr val="1A1F2B"/>
                </a:solidFill>
                <a:latin typeface="Helvetica Neue"/>
              </a:rPr>
              <a:t>Gaia DR4 will not settle the axis that matters</a:t>
            </a:r>
          </a:p>
        </p:txBody>
      </p:sp>
      <p:sp>
        <p:nvSpPr>
          <p:cNvPr id="4" name="Rectangle 3"/>
          <p:cNvSpPr/>
          <p:nvPr/>
        </p:nvSpPr>
        <p:spPr>
          <a:xfrm>
            <a:off x="658368" y="1700784"/>
            <a:ext cx="10874959" cy="19050"/>
          </a:xfrm>
          <a:prstGeom prst="rect">
            <a:avLst/>
          </a:prstGeom>
          <a:solidFill>
            <a:srgbClr val="D8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938528"/>
            <a:ext cx="10874959" cy="4206240"/>
          </a:xfrm>
          <a:prstGeom prst="rect">
            <a:avLst/>
          </a:prstGeom>
          <a:noFill/>
        </p:spPr>
        <p:txBody>
          <a:bodyPr wrap="square" anchor="t">
            <a:spAutoFit/>
          </a:bodyPr>
          <a:lstStyle/>
          <a:p>
            <a:pPr algn="l">
              <a:lnSpc>
                <a:spcPct val="105000"/>
              </a:lnSpc>
              <a:spcAft>
                <a:spcPts val="1500"/>
              </a:spcAft>
            </a:pPr>
            <a:r>
              <a:rPr sz="1750" b="0" i="0">
                <a:solidFill>
                  <a:srgbClr val="1A1F2B"/>
                </a:solidFill>
                <a:latin typeface="Helvetica Neue"/>
              </a:rPr>
              <a:t>DR4 gives radial velocities (3D traceback), sharper ages, deeper membership. All useful.</a:t>
            </a:r>
          </a:p>
          <a:p>
            <a:pPr algn="l">
              <a:lnSpc>
                <a:spcPct val="105000"/>
              </a:lnSpc>
              <a:spcAft>
                <a:spcPts val="1500"/>
              </a:spcAft>
            </a:pPr>
            <a:r>
              <a:rPr sz="1750" b="1" i="0">
                <a:solidFill>
                  <a:srgbClr val="C4622D"/>
                </a:solidFill>
                <a:latin typeface="Helvetica Neue"/>
              </a:rPr>
              <a:t>None of it constrains the high-mass IMF slope — which is the one axis the verdict turns on.</a:t>
            </a:r>
          </a:p>
          <a:p>
            <a:pPr algn="l">
              <a:lnSpc>
                <a:spcPct val="105000"/>
              </a:lnSpc>
              <a:spcAft>
                <a:spcPts val="1500"/>
              </a:spcAft>
            </a:pPr>
            <a:r>
              <a:rPr sz="1750" b="0" i="0">
                <a:solidFill>
                  <a:srgbClr val="1A1F2B"/>
                </a:solidFill>
                <a:latin typeface="Helvetica Neue"/>
              </a:rPr>
              <a:t>So we looked for an independent observable that does.</a:t>
            </a:r>
          </a:p>
          <a:p>
            <a:pPr algn="l">
              <a:lnSpc>
                <a:spcPct val="105000"/>
              </a:lnSpc>
              <a:spcAft>
                <a:spcPts val="1500"/>
              </a:spcAft>
            </a:pPr>
            <a:r>
              <a:rPr sz="1750" b="1" i="0">
                <a:solidFill>
                  <a:srgbClr val="3B6EA8"/>
                </a:solidFill>
                <a:latin typeface="Helvetica Neue"/>
              </a:rPr>
              <a:t>⁶⁰Fe is the supernova-specific tracer: Wolf–Rayet winds produce ²⁶Al but NO ⁶⁰Fe. It counts explosions, not a combination.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75488"/>
            <a:ext cx="10874959" cy="274320"/>
          </a:xfrm>
          <a:prstGeom prst="rect">
            <a:avLst/>
          </a:prstGeom>
          <a:noFill/>
        </p:spPr>
        <p:txBody>
          <a:bodyPr wrap="square" anchor="t">
            <a:spAutoFit/>
          </a:bodyPr>
          <a:lstStyle/>
          <a:p>
            <a:pPr algn="l">
              <a:lnSpc>
                <a:spcPct val="100000"/>
              </a:lnSpc>
              <a:spcAft>
                <a:spcPts val="0"/>
              </a:spcAft>
            </a:pPr>
            <a:r>
              <a:rPr sz="1250" b="1" i="0">
                <a:solidFill>
                  <a:srgbClr val="8A92A0"/>
                </a:solidFill>
                <a:latin typeface="Helvetica Neue"/>
              </a:rPr>
              <a:t>THE FORECAST</a:t>
            </a:r>
          </a:p>
        </p:txBody>
      </p:sp>
      <p:sp>
        <p:nvSpPr>
          <p:cNvPr id="3" name="TextBox 2"/>
          <p:cNvSpPr txBox="1"/>
          <p:nvPr/>
        </p:nvSpPr>
        <p:spPr>
          <a:xfrm>
            <a:off x="658368" y="804672"/>
            <a:ext cx="10874959" cy="822960"/>
          </a:xfrm>
          <a:prstGeom prst="rect">
            <a:avLst/>
          </a:prstGeom>
          <a:noFill/>
        </p:spPr>
        <p:txBody>
          <a:bodyPr wrap="square" anchor="t">
            <a:spAutoFit/>
          </a:bodyPr>
          <a:lstStyle/>
          <a:p>
            <a:pPr algn="l">
              <a:lnSpc>
                <a:spcPct val="95000"/>
              </a:lnSpc>
              <a:spcAft>
                <a:spcPts val="0"/>
              </a:spcAft>
            </a:pPr>
            <a:r>
              <a:rPr sz="3000" b="1" i="0">
                <a:solidFill>
                  <a:srgbClr val="1A1F2B"/>
                </a:solidFill>
                <a:latin typeface="Helvetica Neue"/>
              </a:rPr>
              <a:t>COSI can separate the branches Gaia cannot</a:t>
            </a:r>
          </a:p>
        </p:txBody>
      </p:sp>
      <p:sp>
        <p:nvSpPr>
          <p:cNvPr id="4" name="Rectangle 3"/>
          <p:cNvSpPr/>
          <p:nvPr/>
        </p:nvSpPr>
        <p:spPr>
          <a:xfrm>
            <a:off x="658368" y="1700784"/>
            <a:ext cx="10874959" cy="19050"/>
          </a:xfrm>
          <a:prstGeom prst="rect">
            <a:avLst/>
          </a:prstGeom>
          <a:solidFill>
            <a:srgbClr val="D8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wp11_cosi_forecast.png"/>
          <p:cNvPicPr>
            <a:picLocks noChangeAspect="1"/>
          </p:cNvPicPr>
          <p:nvPr/>
        </p:nvPicPr>
        <p:blipFill>
          <a:blip r:embed="rId2"/>
          <a:stretch>
            <a:fillRect/>
          </a:stretch>
        </p:blipFill>
        <p:spPr>
          <a:xfrm>
            <a:off x="658368" y="1938528"/>
            <a:ext cx="6772164" cy="4507992"/>
          </a:xfrm>
          <a:prstGeom prst="rect">
            <a:avLst/>
          </a:prstGeom>
        </p:spPr>
      </p:pic>
      <p:sp>
        <p:nvSpPr>
          <p:cNvPr id="6" name="TextBox 5"/>
          <p:cNvSpPr txBox="1"/>
          <p:nvPr/>
        </p:nvSpPr>
        <p:spPr>
          <a:xfrm>
            <a:off x="7842012" y="2167128"/>
            <a:ext cx="3691315" cy="3291840"/>
          </a:xfrm>
          <a:prstGeom prst="rect">
            <a:avLst/>
          </a:prstGeom>
          <a:noFill/>
        </p:spPr>
        <p:txBody>
          <a:bodyPr wrap="square" anchor="t">
            <a:spAutoFit/>
          </a:bodyPr>
          <a:lstStyle/>
          <a:p>
            <a:pPr algn="l">
              <a:lnSpc>
                <a:spcPct val="120000"/>
              </a:lnSpc>
              <a:spcAft>
                <a:spcPts val="0"/>
              </a:spcAft>
            </a:pPr>
            <a:r>
              <a:rPr sz="1500" b="0" i="0">
                <a:solidFill>
                  <a:srgbClr val="5A6272"/>
                </a:solidFill>
                <a:latin typeface="Helvetica Neue"/>
              </a:rPr>
              <a:t>Predicted ⁶⁰Fe line flux per branch against COSI's 3σ sensitivity. 18/18 branches at α = 2.0 are detectable; 0/18 at α = 2.3. Yields were declared as a branch BEFORE any flux was computed.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75488"/>
            <a:ext cx="10874959" cy="274320"/>
          </a:xfrm>
          <a:prstGeom prst="rect">
            <a:avLst/>
          </a:prstGeom>
          <a:noFill/>
        </p:spPr>
        <p:txBody>
          <a:bodyPr wrap="square" anchor="t">
            <a:spAutoFit/>
          </a:bodyPr>
          <a:lstStyle/>
          <a:p>
            <a:pPr algn="l">
              <a:lnSpc>
                <a:spcPct val="100000"/>
              </a:lnSpc>
              <a:spcAft>
                <a:spcPts val="0"/>
              </a:spcAft>
            </a:pPr>
            <a:r>
              <a:rPr sz="1250" b="1" i="0">
                <a:solidFill>
                  <a:srgbClr val="8A92A0"/>
                </a:solidFill>
                <a:latin typeface="Helvetica Neue"/>
              </a:rPr>
              <a:t>HONESTY</a:t>
            </a:r>
          </a:p>
        </p:txBody>
      </p:sp>
      <p:sp>
        <p:nvSpPr>
          <p:cNvPr id="3" name="TextBox 2"/>
          <p:cNvSpPr txBox="1"/>
          <p:nvPr/>
        </p:nvSpPr>
        <p:spPr>
          <a:xfrm>
            <a:off x="658368" y="804672"/>
            <a:ext cx="10874959" cy="822960"/>
          </a:xfrm>
          <a:prstGeom prst="rect">
            <a:avLst/>
          </a:prstGeom>
          <a:noFill/>
        </p:spPr>
        <p:txBody>
          <a:bodyPr wrap="square" anchor="t">
            <a:spAutoFit/>
          </a:bodyPr>
          <a:lstStyle/>
          <a:p>
            <a:pPr algn="l">
              <a:lnSpc>
                <a:spcPct val="95000"/>
              </a:lnSpc>
              <a:spcAft>
                <a:spcPts val="0"/>
              </a:spcAft>
            </a:pPr>
            <a:r>
              <a:rPr sz="3000" b="1" i="0">
                <a:solidFill>
                  <a:srgbClr val="1A1F2B"/>
                </a:solidFill>
                <a:latin typeface="Helvetica Neue"/>
              </a:rPr>
              <a:t>Two things bound that claim — and we give them equal weight</a:t>
            </a:r>
          </a:p>
        </p:txBody>
      </p:sp>
      <p:sp>
        <p:nvSpPr>
          <p:cNvPr id="4" name="Rectangle 3"/>
          <p:cNvSpPr/>
          <p:nvPr/>
        </p:nvSpPr>
        <p:spPr>
          <a:xfrm>
            <a:off x="658368" y="1700784"/>
            <a:ext cx="10874959" cy="19050"/>
          </a:xfrm>
          <a:prstGeom prst="rect">
            <a:avLst/>
          </a:prstGeom>
          <a:solidFill>
            <a:srgbClr val="D8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938528"/>
            <a:ext cx="10874959" cy="4206240"/>
          </a:xfrm>
          <a:prstGeom prst="rect">
            <a:avLst/>
          </a:prstGeom>
          <a:noFill/>
        </p:spPr>
        <p:txBody>
          <a:bodyPr wrap="square" anchor="t">
            <a:spAutoFit/>
          </a:bodyPr>
          <a:lstStyle/>
          <a:p>
            <a:pPr algn="l">
              <a:lnSpc>
                <a:spcPct val="105000"/>
              </a:lnSpc>
              <a:spcAft>
                <a:spcPts val="1500"/>
              </a:spcAft>
            </a:pPr>
            <a:r>
              <a:rPr sz="1650" b="1" i="0">
                <a:solidFill>
                  <a:srgbClr val="C4622D"/>
                </a:solidFill>
                <a:latin typeface="Helvetica Neue"/>
              </a:rPr>
              <a:t>The yield model moves the prediction by a factor 30, against 4.8 for the whole branch set. A non-detection constrains BOTH, not α alone.</a:t>
            </a:r>
          </a:p>
          <a:p>
            <a:pPr algn="l">
              <a:lnSpc>
                <a:spcPct val="105000"/>
              </a:lnSpc>
              <a:spcAft>
                <a:spcPts val="1500"/>
              </a:spcAft>
            </a:pPr>
            <a:r>
              <a:rPr sz="1650" b="0" i="0">
                <a:solidFill>
                  <a:srgbClr val="1A1F2B"/>
                </a:solidFill>
                <a:latin typeface="Helvetica Neue"/>
              </a:rPr>
              <a:t>The current standard yield compilation predicts nothing at all: it collapses everything above 25 M⊙, and 0 of the 315 million supernovae we sample fall below that — so its ⁶⁰Fe flux is identically zero.</a:t>
            </a:r>
          </a:p>
          <a:p>
            <a:pPr algn="l">
              <a:lnSpc>
                <a:spcPct val="105000"/>
              </a:lnSpc>
              <a:spcAft>
                <a:spcPts val="1500"/>
              </a:spcAft>
            </a:pPr>
            <a:r>
              <a:rPr sz="1650" b="1" i="0">
                <a:solidFill>
                  <a:srgbClr val="3B6EA8"/>
                </a:solidFill>
                <a:latin typeface="Helvetica Neue"/>
              </a:rPr>
              <a:t>A COSI non-detection would then favour exactly the explodability that the pulsar disfavours — and that tension would itself be the result.</a:t>
            </a:r>
          </a:p>
          <a:p>
            <a:pPr algn="l">
              <a:lnSpc>
                <a:spcPct val="105000"/>
              </a:lnSpc>
              <a:spcAft>
                <a:spcPts val="1500"/>
              </a:spcAft>
            </a:pPr>
            <a:r>
              <a:rPr sz="1650" b="0" i="0">
                <a:solidFill>
                  <a:srgbClr val="1A1F2B"/>
                </a:solidFill>
                <a:latin typeface="Helvetica Neue"/>
              </a:rPr>
              <a:t>Existing INTEGRAL data are already within 5% of excluding our richest branch.</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A1F2B"/>
        </a:solidFill>
        <a:effectLst/>
      </p:bgPr>
    </p:bg>
    <p:spTree>
      <p:nvGrpSpPr>
        <p:cNvPr id="1" name=""/>
        <p:cNvGrpSpPr/>
        <p:nvPr/>
      </p:nvGrpSpPr>
      <p:grpSpPr/>
      <p:sp>
        <p:nvSpPr>
          <p:cNvPr id="2" name="TextBox 1"/>
          <p:cNvSpPr txBox="1"/>
          <p:nvPr/>
        </p:nvSpPr>
        <p:spPr>
          <a:xfrm>
            <a:off x="658368" y="2651760"/>
            <a:ext cx="10424160" cy="1828800"/>
          </a:xfrm>
          <a:prstGeom prst="rect">
            <a:avLst/>
          </a:prstGeom>
          <a:noFill/>
        </p:spPr>
        <p:txBody>
          <a:bodyPr wrap="square" anchor="t">
            <a:spAutoFit/>
          </a:bodyPr>
          <a:lstStyle/>
          <a:p>
            <a:pPr algn="l">
              <a:lnSpc>
                <a:spcPct val="100000"/>
              </a:lnSpc>
              <a:spcAft>
                <a:spcPts val="1400"/>
              </a:spcAft>
            </a:pPr>
            <a:r>
              <a:rPr sz="1300" b="1" i="0">
                <a:solidFill>
                  <a:srgbClr val="8A92A0"/>
                </a:solidFill>
                <a:latin typeface="Helvetica Neue"/>
              </a:rPr>
              <a:t>7</a:t>
            </a:r>
          </a:p>
          <a:p>
            <a:pPr algn="l">
              <a:lnSpc>
                <a:spcPct val="100000"/>
              </a:lnSpc>
              <a:spcAft>
                <a:spcPts val="1200"/>
              </a:spcAft>
            </a:pPr>
            <a:r>
              <a:rPr sz="4400" b="1" i="0">
                <a:solidFill>
                  <a:srgbClr val="FFFFFF"/>
                </a:solidFill>
                <a:latin typeface="Helvetica Neue"/>
              </a:rPr>
              <a:t>Conclusions</a:t>
            </a:r>
          </a:p>
          <a:p>
            <a:pPr algn="l">
              <a:lnSpc>
                <a:spcPct val="100000"/>
              </a:lnSpc>
              <a:spcAft>
                <a:spcPts val="0"/>
              </a:spcAft>
            </a:pPr>
            <a:r>
              <a:rPr sz="1700" b="0" i="0">
                <a:solidFill>
                  <a:srgbClr val="9FB4CE"/>
                </a:solidFill>
                <a:latin typeface="Helvetica Neue"/>
              </a:rPr>
              <a:t>What is measured, what is not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75488"/>
            <a:ext cx="10874959" cy="822960"/>
          </a:xfrm>
          <a:prstGeom prst="rect">
            <a:avLst/>
          </a:prstGeom>
          <a:noFill/>
        </p:spPr>
        <p:txBody>
          <a:bodyPr wrap="square" anchor="t">
            <a:spAutoFit/>
          </a:bodyPr>
          <a:lstStyle/>
          <a:p>
            <a:pPr algn="l">
              <a:lnSpc>
                <a:spcPct val="95000"/>
              </a:lnSpc>
              <a:spcAft>
                <a:spcPts val="0"/>
              </a:spcAft>
            </a:pPr>
            <a:r>
              <a:rPr sz="3000" b="1" i="0">
                <a:solidFill>
                  <a:srgbClr val="1A1F2B"/>
                </a:solidFill>
                <a:latin typeface="Helvetica Neue"/>
              </a:rPr>
              <a:t>Conclusions</a:t>
            </a:r>
          </a:p>
        </p:txBody>
      </p:sp>
      <p:sp>
        <p:nvSpPr>
          <p:cNvPr id="3" name="Rectangle 2"/>
          <p:cNvSpPr/>
          <p:nvPr/>
        </p:nvSpPr>
        <p:spPr>
          <a:xfrm>
            <a:off x="658368" y="1700784"/>
            <a:ext cx="10874959" cy="19050"/>
          </a:xfrm>
          <a:prstGeom prst="rect">
            <a:avLst/>
          </a:prstGeom>
          <a:solidFill>
            <a:srgbClr val="D8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1938528"/>
            <a:ext cx="10874959" cy="4206240"/>
          </a:xfrm>
          <a:prstGeom prst="rect">
            <a:avLst/>
          </a:prstGeom>
          <a:noFill/>
        </p:spPr>
        <p:txBody>
          <a:bodyPr wrap="square" anchor="t">
            <a:spAutoFit/>
          </a:bodyPr>
          <a:lstStyle/>
          <a:p>
            <a:pPr algn="l">
              <a:lnSpc>
                <a:spcPct val="105000"/>
              </a:lnSpc>
              <a:spcAft>
                <a:spcPts val="1500"/>
              </a:spcAft>
            </a:pPr>
            <a:r>
              <a:rPr sz="1750" b="1" i="0">
                <a:solidFill>
                  <a:srgbClr val="1A1F2B"/>
                </a:solidFill>
                <a:latin typeface="Helvetica Neue"/>
              </a:rPr>
              <a:t>Cyg OB2 has produced 5.63–28.7 core-collapse supernovae; P(≥1) = 0.9997 and P(last &lt; 100 kyr) = 0.552, seven times an ignorance baseline.</a:t>
            </a:r>
          </a:p>
          <a:p>
            <a:pPr algn="l">
              <a:lnSpc>
                <a:spcPct val="105000"/>
              </a:lnSpc>
              <a:spcAft>
                <a:spcPts val="1500"/>
              </a:spcAft>
            </a:pPr>
            <a:r>
              <a:rPr sz="1750" b="0" i="0">
                <a:solidFill>
                  <a:srgbClr val="4F8A5B"/>
                </a:solidFill>
                <a:latin typeface="Helvetica Neue"/>
              </a:rPr>
              <a:t>The census closes out of sample to 6.7% at Salpeter — the IMF extrapolation is validated, not assumed.</a:t>
            </a:r>
          </a:p>
          <a:p>
            <a:pPr algn="l">
              <a:lnSpc>
                <a:spcPct val="105000"/>
              </a:lnSpc>
              <a:spcAft>
                <a:spcPts val="1500"/>
              </a:spcAft>
            </a:pPr>
            <a:r>
              <a:rPr sz="1750" b="0" i="0">
                <a:solidFill>
                  <a:srgbClr val="C4622D"/>
                </a:solidFill>
                <a:latin typeface="Helvetica Neue"/>
              </a:rPr>
              <a:t>The whole budget sits above 30 M⊙, so the result is conditional on very massive stars exploding. PSR J2032+4127 says at least one did.</a:t>
            </a:r>
          </a:p>
          <a:p>
            <a:pPr algn="l">
              <a:lnSpc>
                <a:spcPct val="105000"/>
              </a:lnSpc>
              <a:spcAft>
                <a:spcPts val="1500"/>
              </a:spcAft>
            </a:pPr>
            <a:r>
              <a:rPr sz="1750" b="0" i="0">
                <a:solidFill>
                  <a:srgbClr val="1A1F2B"/>
                </a:solidFill>
                <a:latin typeface="Helvetica Neue"/>
              </a:rPr>
              <a:t>The PeVatron verdict is INCONCLUSIVE by a rule fixed in advance, and hinges on the IMF slope alone.</a:t>
            </a:r>
          </a:p>
          <a:p>
            <a:pPr algn="l">
              <a:lnSpc>
                <a:spcPct val="105000"/>
              </a:lnSpc>
              <a:spcAft>
                <a:spcPts val="1500"/>
              </a:spcAft>
            </a:pPr>
            <a:r>
              <a:rPr sz="1750" b="1" i="0">
                <a:solidFill>
                  <a:srgbClr val="3B6EA8"/>
                </a:solidFill>
                <a:latin typeface="Helvetica Neue"/>
              </a:rPr>
              <a:t>⁶⁰Fe makes it falsifiable: COSI discriminates the branches — if the yield model cooperates.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2103120"/>
            <a:ext cx="10874959" cy="2560320"/>
          </a:xfrm>
          <a:prstGeom prst="rect">
            <a:avLst/>
          </a:prstGeom>
          <a:noFill/>
        </p:spPr>
        <p:txBody>
          <a:bodyPr wrap="square" anchor="t">
            <a:spAutoFit/>
          </a:bodyPr>
          <a:lstStyle/>
          <a:p>
            <a:pPr algn="l">
              <a:lnSpc>
                <a:spcPct val="102000"/>
              </a:lnSpc>
              <a:spcAft>
                <a:spcPts val="2000"/>
              </a:spcAft>
            </a:pPr>
            <a:r>
              <a:rPr sz="3800" b="1" i="0">
                <a:solidFill>
                  <a:srgbClr val="1A1F2B"/>
                </a:solidFill>
                <a:latin typeface="Helvetica Neue"/>
              </a:rPr>
              <a:t>Thank you</a:t>
            </a:r>
          </a:p>
          <a:p>
            <a:pPr algn="l">
              <a:lnSpc>
                <a:spcPct val="115000"/>
              </a:lnSpc>
              <a:spcAft>
                <a:spcPts val="0"/>
              </a:spcAft>
            </a:pPr>
            <a:r>
              <a:rPr sz="1800" b="0" i="0">
                <a:solidFill>
                  <a:srgbClr val="1A1F2B"/>
                </a:solidFill>
                <a:latin typeface="Helvetica Neue"/>
              </a:rPr>
              <a:t>Every number in this talk is generated from a versioned artifact — the same macro file the paper uses. Pre-registrations, failed predictions and withdrawn results are all in the repository.</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A1F2B"/>
        </a:solidFill>
        <a:effectLst/>
      </p:bgPr>
    </p:bg>
    <p:spTree>
      <p:nvGrpSpPr>
        <p:cNvPr id="1" name=""/>
        <p:cNvGrpSpPr/>
        <p:nvPr/>
      </p:nvGrpSpPr>
      <p:grpSpPr/>
      <p:sp>
        <p:nvSpPr>
          <p:cNvPr id="2" name="TextBox 1"/>
          <p:cNvSpPr txBox="1"/>
          <p:nvPr/>
        </p:nvSpPr>
        <p:spPr>
          <a:xfrm>
            <a:off x="658368" y="2651760"/>
            <a:ext cx="10424160" cy="1828800"/>
          </a:xfrm>
          <a:prstGeom prst="rect">
            <a:avLst/>
          </a:prstGeom>
          <a:noFill/>
        </p:spPr>
        <p:txBody>
          <a:bodyPr wrap="square" anchor="t">
            <a:spAutoFit/>
          </a:bodyPr>
          <a:lstStyle/>
          <a:p>
            <a:pPr algn="l">
              <a:lnSpc>
                <a:spcPct val="100000"/>
              </a:lnSpc>
              <a:spcAft>
                <a:spcPts val="1400"/>
              </a:spcAft>
            </a:pPr>
            <a:r>
              <a:rPr sz="1300" b="1" i="0">
                <a:solidFill>
                  <a:srgbClr val="8A92A0"/>
                </a:solidFill>
                <a:latin typeface="Helvetica Neue"/>
              </a:rPr>
              <a:t>—</a:t>
            </a:r>
          </a:p>
          <a:p>
            <a:pPr algn="l">
              <a:lnSpc>
                <a:spcPct val="100000"/>
              </a:lnSpc>
              <a:spcAft>
                <a:spcPts val="1200"/>
              </a:spcAft>
            </a:pPr>
            <a:r>
              <a:rPr sz="4400" b="1" i="0">
                <a:solidFill>
                  <a:srgbClr val="FFFFFF"/>
                </a:solidFill>
                <a:latin typeface="Helvetica Neue"/>
              </a:rPr>
              <a:t>Backup</a:t>
            </a:r>
          </a:p>
          <a:p>
            <a:pPr algn="l">
              <a:lnSpc>
                <a:spcPct val="100000"/>
              </a:lnSpc>
              <a:spcAft>
                <a:spcPts val="0"/>
              </a:spcAft>
            </a:pPr>
            <a:r>
              <a:rPr sz="1700" b="0" i="0">
                <a:solidFill>
                  <a:srgbClr val="9FB4CE"/>
                </a:solidFill>
                <a:latin typeface="Helvetica Neue"/>
              </a:rPr>
              <a:t>For questions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75488"/>
            <a:ext cx="10874959" cy="274320"/>
          </a:xfrm>
          <a:prstGeom prst="rect">
            <a:avLst/>
          </a:prstGeom>
          <a:noFill/>
        </p:spPr>
        <p:txBody>
          <a:bodyPr wrap="square" anchor="t">
            <a:spAutoFit/>
          </a:bodyPr>
          <a:lstStyle/>
          <a:p>
            <a:pPr algn="l">
              <a:lnSpc>
                <a:spcPct val="100000"/>
              </a:lnSpc>
              <a:spcAft>
                <a:spcPts val="0"/>
              </a:spcAft>
            </a:pPr>
            <a:r>
              <a:rPr sz="1250" b="1" i="0">
                <a:solidFill>
                  <a:srgbClr val="8A92A0"/>
                </a:solidFill>
                <a:latin typeface="Helvetica Neue"/>
              </a:rPr>
              <a:t>BACKUP</a:t>
            </a:r>
          </a:p>
        </p:txBody>
      </p:sp>
      <p:sp>
        <p:nvSpPr>
          <p:cNvPr id="3" name="TextBox 2"/>
          <p:cNvSpPr txBox="1"/>
          <p:nvPr/>
        </p:nvSpPr>
        <p:spPr>
          <a:xfrm>
            <a:off x="658368" y="804672"/>
            <a:ext cx="10874959" cy="822960"/>
          </a:xfrm>
          <a:prstGeom prst="rect">
            <a:avLst/>
          </a:prstGeom>
          <a:noFill/>
        </p:spPr>
        <p:txBody>
          <a:bodyPr wrap="square" anchor="t">
            <a:spAutoFit/>
          </a:bodyPr>
          <a:lstStyle/>
          <a:p>
            <a:pPr algn="l">
              <a:lnSpc>
                <a:spcPct val="95000"/>
              </a:lnSpc>
              <a:spcAft>
                <a:spcPts val="0"/>
              </a:spcAft>
            </a:pPr>
            <a:r>
              <a:rPr sz="3000" b="1" i="0">
                <a:solidFill>
                  <a:srgbClr val="1A1F2B"/>
                </a:solidFill>
                <a:latin typeface="Helvetica Neue"/>
              </a:rPr>
              <a:t>Backup · How the answer depends on the assumed age</a:t>
            </a:r>
          </a:p>
        </p:txBody>
      </p:sp>
      <p:sp>
        <p:nvSpPr>
          <p:cNvPr id="4" name="Rectangle 3"/>
          <p:cNvSpPr/>
          <p:nvPr/>
        </p:nvSpPr>
        <p:spPr>
          <a:xfrm>
            <a:off x="658368" y="1700784"/>
            <a:ext cx="10874959" cy="19050"/>
          </a:xfrm>
          <a:prstGeom prst="rect">
            <a:avLst/>
          </a:prstGeom>
          <a:solidFill>
            <a:srgbClr val="D8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5_age_sensitivity.png"/>
          <p:cNvPicPr>
            <a:picLocks noChangeAspect="1"/>
          </p:cNvPicPr>
          <p:nvPr/>
        </p:nvPicPr>
        <p:blipFill>
          <a:blip r:embed="rId2"/>
          <a:stretch>
            <a:fillRect/>
          </a:stretch>
        </p:blipFill>
        <p:spPr>
          <a:xfrm>
            <a:off x="658368" y="1938528"/>
            <a:ext cx="4039223" cy="4507992"/>
          </a:xfrm>
          <a:prstGeom prst="rect">
            <a:avLst/>
          </a:prstGeom>
        </p:spPr>
      </p:pic>
      <p:sp>
        <p:nvSpPr>
          <p:cNvPr id="6" name="TextBox 5"/>
          <p:cNvSpPr txBox="1"/>
          <p:nvPr/>
        </p:nvSpPr>
        <p:spPr>
          <a:xfrm>
            <a:off x="5109071" y="2167128"/>
            <a:ext cx="6424256" cy="3291840"/>
          </a:xfrm>
          <a:prstGeom prst="rect">
            <a:avLst/>
          </a:prstGeom>
          <a:noFill/>
        </p:spPr>
        <p:txBody>
          <a:bodyPr wrap="square" anchor="t">
            <a:spAutoFit/>
          </a:bodyPr>
          <a:lstStyle/>
          <a:p>
            <a:pPr algn="l">
              <a:lnSpc>
                <a:spcPct val="120000"/>
              </a:lnSpc>
              <a:spcAft>
                <a:spcPts val="0"/>
              </a:spcAft>
            </a:pPr>
            <a:r>
              <a:rPr sz="1500" b="0" i="0">
                <a:solidFill>
                  <a:srgbClr val="5A6272"/>
                </a:solidFill>
                <a:latin typeface="Helvetica Neue"/>
              </a:rPr>
              <a:t>Below ~3 Myr nothing has died yet. The steep dependence on age is why the counts-based ages, not the CMD ages, are what the ledger consumes.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75488"/>
            <a:ext cx="10874959" cy="274320"/>
          </a:xfrm>
          <a:prstGeom prst="rect">
            <a:avLst/>
          </a:prstGeom>
          <a:noFill/>
        </p:spPr>
        <p:txBody>
          <a:bodyPr wrap="square" anchor="t">
            <a:spAutoFit/>
          </a:bodyPr>
          <a:lstStyle/>
          <a:p>
            <a:pPr algn="l">
              <a:lnSpc>
                <a:spcPct val="100000"/>
              </a:lnSpc>
              <a:spcAft>
                <a:spcPts val="0"/>
              </a:spcAft>
            </a:pPr>
            <a:r>
              <a:rPr sz="1250" b="1" i="0">
                <a:solidFill>
                  <a:srgbClr val="8A92A0"/>
                </a:solidFill>
                <a:latin typeface="Helvetica Neue"/>
              </a:rPr>
              <a:t>BACKUP</a:t>
            </a:r>
          </a:p>
        </p:txBody>
      </p:sp>
      <p:sp>
        <p:nvSpPr>
          <p:cNvPr id="3" name="TextBox 2"/>
          <p:cNvSpPr txBox="1"/>
          <p:nvPr/>
        </p:nvSpPr>
        <p:spPr>
          <a:xfrm>
            <a:off x="658368" y="804672"/>
            <a:ext cx="10874959" cy="822960"/>
          </a:xfrm>
          <a:prstGeom prst="rect">
            <a:avLst/>
          </a:prstGeom>
          <a:noFill/>
        </p:spPr>
        <p:txBody>
          <a:bodyPr wrap="square" anchor="t">
            <a:spAutoFit/>
          </a:bodyPr>
          <a:lstStyle/>
          <a:p>
            <a:pPr algn="l">
              <a:lnSpc>
                <a:spcPct val="95000"/>
              </a:lnSpc>
              <a:spcAft>
                <a:spcPts val="0"/>
              </a:spcAft>
            </a:pPr>
            <a:r>
              <a:rPr sz="3000" b="1" i="0">
                <a:solidFill>
                  <a:srgbClr val="1A1F2B"/>
                </a:solidFill>
                <a:latin typeface="Helvetica Neue"/>
              </a:rPr>
              <a:t>Backup · Control fields and the false-positive rate</a:t>
            </a:r>
          </a:p>
        </p:txBody>
      </p:sp>
      <p:sp>
        <p:nvSpPr>
          <p:cNvPr id="4" name="Rectangle 3"/>
          <p:cNvSpPr/>
          <p:nvPr/>
        </p:nvSpPr>
        <p:spPr>
          <a:xfrm>
            <a:off x="658368" y="1700784"/>
            <a:ext cx="10874959" cy="19050"/>
          </a:xfrm>
          <a:prstGeom prst="rect">
            <a:avLst/>
          </a:prstGeom>
          <a:solidFill>
            <a:srgbClr val="D8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2_control_fields.png"/>
          <p:cNvPicPr>
            <a:picLocks noChangeAspect="1"/>
          </p:cNvPicPr>
          <p:nvPr/>
        </p:nvPicPr>
        <p:blipFill>
          <a:blip r:embed="rId2"/>
          <a:stretch>
            <a:fillRect/>
          </a:stretch>
        </p:blipFill>
        <p:spPr>
          <a:xfrm>
            <a:off x="658368" y="1938528"/>
            <a:ext cx="10874959" cy="3238801"/>
          </a:xfrm>
          <a:prstGeom prst="rect">
            <a:avLst/>
          </a:prstGeom>
        </p:spPr>
      </p:pic>
      <p:sp>
        <p:nvSpPr>
          <p:cNvPr id="6" name="TextBox 5"/>
          <p:cNvSpPr txBox="1"/>
          <p:nvPr/>
        </p:nvSpPr>
        <p:spPr>
          <a:xfrm>
            <a:off x="658368" y="5341921"/>
            <a:ext cx="10874959" cy="868680"/>
          </a:xfrm>
          <a:prstGeom prst="rect">
            <a:avLst/>
          </a:prstGeom>
          <a:noFill/>
        </p:spPr>
        <p:txBody>
          <a:bodyPr wrap="square" anchor="t">
            <a:spAutoFit/>
          </a:bodyPr>
          <a:lstStyle/>
          <a:p>
            <a:pPr algn="l">
              <a:lnSpc>
                <a:spcPct val="112000"/>
              </a:lnSpc>
              <a:spcAft>
                <a:spcPts val="0"/>
              </a:spcAft>
            </a:pPr>
            <a:r>
              <a:rPr sz="1450" b="0" i="0">
                <a:solidFill>
                  <a:srgbClr val="5A6272"/>
                </a:solidFill>
                <a:latin typeface="Helvetica Neue"/>
              </a:rPr>
              <a:t>Membership contamination and the runaway chance-alignment rate are both measured from control fields rather than assumed.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75488"/>
            <a:ext cx="10874959" cy="274320"/>
          </a:xfrm>
          <a:prstGeom prst="rect">
            <a:avLst/>
          </a:prstGeom>
          <a:noFill/>
        </p:spPr>
        <p:txBody>
          <a:bodyPr wrap="square" anchor="t">
            <a:spAutoFit/>
          </a:bodyPr>
          <a:lstStyle/>
          <a:p>
            <a:pPr algn="l">
              <a:lnSpc>
                <a:spcPct val="100000"/>
              </a:lnSpc>
              <a:spcAft>
                <a:spcPts val="0"/>
              </a:spcAft>
            </a:pPr>
            <a:r>
              <a:rPr sz="1250" b="1" i="0">
                <a:solidFill>
                  <a:srgbClr val="8A92A0"/>
                </a:solidFill>
                <a:latin typeface="Helvetica Neue"/>
              </a:rPr>
              <a:t>BACKUP</a:t>
            </a:r>
          </a:p>
        </p:txBody>
      </p:sp>
      <p:sp>
        <p:nvSpPr>
          <p:cNvPr id="3" name="TextBox 2"/>
          <p:cNvSpPr txBox="1"/>
          <p:nvPr/>
        </p:nvSpPr>
        <p:spPr>
          <a:xfrm>
            <a:off x="658368" y="804672"/>
            <a:ext cx="10874959" cy="822960"/>
          </a:xfrm>
          <a:prstGeom prst="rect">
            <a:avLst/>
          </a:prstGeom>
          <a:noFill/>
        </p:spPr>
        <p:txBody>
          <a:bodyPr wrap="square" anchor="t">
            <a:spAutoFit/>
          </a:bodyPr>
          <a:lstStyle/>
          <a:p>
            <a:pPr algn="l">
              <a:lnSpc>
                <a:spcPct val="95000"/>
              </a:lnSpc>
              <a:spcAft>
                <a:spcPts val="0"/>
              </a:spcAft>
            </a:pPr>
            <a:r>
              <a:rPr sz="3000" b="1" i="0">
                <a:solidFill>
                  <a:srgbClr val="1A1F2B"/>
                </a:solidFill>
                <a:latin typeface="Helvetica Neue"/>
              </a:rPr>
              <a:t>Backup · ²⁶Al, and a correction we found</a:t>
            </a:r>
          </a:p>
        </p:txBody>
      </p:sp>
      <p:sp>
        <p:nvSpPr>
          <p:cNvPr id="4" name="Rectangle 3"/>
          <p:cNvSpPr/>
          <p:nvPr/>
        </p:nvSpPr>
        <p:spPr>
          <a:xfrm>
            <a:off x="658368" y="1700784"/>
            <a:ext cx="10874959" cy="19050"/>
          </a:xfrm>
          <a:prstGeom prst="rect">
            <a:avLst/>
          </a:prstGeom>
          <a:solidFill>
            <a:srgbClr val="D8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938528"/>
            <a:ext cx="10874959" cy="4206240"/>
          </a:xfrm>
          <a:prstGeom prst="rect">
            <a:avLst/>
          </a:prstGeom>
          <a:noFill/>
        </p:spPr>
        <p:txBody>
          <a:bodyPr wrap="square" anchor="t">
            <a:spAutoFit/>
          </a:bodyPr>
          <a:lstStyle/>
          <a:p>
            <a:pPr algn="l">
              <a:lnSpc>
                <a:spcPct val="105000"/>
              </a:lnSpc>
              <a:spcAft>
                <a:spcPts val="1500"/>
              </a:spcAft>
            </a:pPr>
            <a:r>
              <a:rPr sz="1750" b="0" i="0">
                <a:solidFill>
                  <a:srgbClr val="1A1F2B"/>
                </a:solidFill>
                <a:latin typeface="Helvetica Neue"/>
              </a:rPr>
              <a:t>²⁶Al traces winds AND supernovae, so it constrains a combination and is never inverted for a supernova count.</a:t>
            </a:r>
          </a:p>
          <a:p>
            <a:pPr algn="l">
              <a:lnSpc>
                <a:spcPct val="105000"/>
              </a:lnSpc>
              <a:spcAft>
                <a:spcPts val="1500"/>
              </a:spcAft>
            </a:pPr>
            <a:r>
              <a:rPr sz="1750" b="0" i="0">
                <a:solidFill>
                  <a:srgbClr val="1A1F2B"/>
                </a:solidFill>
                <a:latin typeface="Helvetica Neue"/>
              </a:rPr>
              <a:t>Run forward, the ledger's supernovae supply 10–42% of the measured complex-wide 1809 keV flux — sub-dominant but not negligible.</a:t>
            </a:r>
          </a:p>
          <a:p>
            <a:pPr algn="l">
              <a:lnSpc>
                <a:spcPct val="105000"/>
              </a:lnSpc>
              <a:spcAft>
                <a:spcPts val="1500"/>
              </a:spcAft>
            </a:pPr>
            <a:r>
              <a:rPr sz="1750" b="1" i="0">
                <a:solidFill>
                  <a:srgbClr val="C4622D"/>
                </a:solidFill>
                <a:latin typeface="Helvetica Neue"/>
              </a:rPr>
              <a:t>This corrected an earlier internal comparison that was wrong by ~100× (a Galactic ²⁶Al mass had been used for the Cygnus complex). Recorded as a finding; nothing upstream retuned.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75488"/>
            <a:ext cx="10874959" cy="274320"/>
          </a:xfrm>
          <a:prstGeom prst="rect">
            <a:avLst/>
          </a:prstGeom>
          <a:noFill/>
        </p:spPr>
        <p:txBody>
          <a:bodyPr wrap="square" anchor="t">
            <a:spAutoFit/>
          </a:bodyPr>
          <a:lstStyle/>
          <a:p>
            <a:pPr algn="l">
              <a:lnSpc>
                <a:spcPct val="100000"/>
              </a:lnSpc>
              <a:spcAft>
                <a:spcPts val="0"/>
              </a:spcAft>
            </a:pPr>
            <a:r>
              <a:rPr sz="1250" b="1" i="0">
                <a:solidFill>
                  <a:srgbClr val="8A92A0"/>
                </a:solidFill>
                <a:latin typeface="Helvetica Neue"/>
              </a:rPr>
              <a:t>BACKUP</a:t>
            </a:r>
          </a:p>
        </p:txBody>
      </p:sp>
      <p:sp>
        <p:nvSpPr>
          <p:cNvPr id="3" name="TextBox 2"/>
          <p:cNvSpPr txBox="1"/>
          <p:nvPr/>
        </p:nvSpPr>
        <p:spPr>
          <a:xfrm>
            <a:off x="658368" y="804672"/>
            <a:ext cx="10874959" cy="822960"/>
          </a:xfrm>
          <a:prstGeom prst="rect">
            <a:avLst/>
          </a:prstGeom>
          <a:noFill/>
        </p:spPr>
        <p:txBody>
          <a:bodyPr wrap="square" anchor="t">
            <a:spAutoFit/>
          </a:bodyPr>
          <a:lstStyle/>
          <a:p>
            <a:pPr algn="l">
              <a:lnSpc>
                <a:spcPct val="95000"/>
              </a:lnSpc>
              <a:spcAft>
                <a:spcPts val="0"/>
              </a:spcAft>
            </a:pPr>
            <a:r>
              <a:rPr sz="3000" b="1" i="0">
                <a:solidFill>
                  <a:srgbClr val="1A1F2B"/>
                </a:solidFill>
                <a:latin typeface="Helvetica Neue"/>
              </a:rPr>
              <a:t>Backup · What this cannot do</a:t>
            </a:r>
          </a:p>
        </p:txBody>
      </p:sp>
      <p:sp>
        <p:nvSpPr>
          <p:cNvPr id="4" name="Rectangle 3"/>
          <p:cNvSpPr/>
          <p:nvPr/>
        </p:nvSpPr>
        <p:spPr>
          <a:xfrm>
            <a:off x="658368" y="1700784"/>
            <a:ext cx="10874959" cy="19050"/>
          </a:xfrm>
          <a:prstGeom prst="rect">
            <a:avLst/>
          </a:prstGeom>
          <a:solidFill>
            <a:srgbClr val="D8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938528"/>
            <a:ext cx="10874959" cy="4206240"/>
          </a:xfrm>
          <a:prstGeom prst="rect">
            <a:avLst/>
          </a:prstGeom>
          <a:noFill/>
        </p:spPr>
        <p:txBody>
          <a:bodyPr wrap="square" anchor="t">
            <a:spAutoFit/>
          </a:bodyPr>
          <a:lstStyle/>
          <a:p>
            <a:pPr algn="l">
              <a:lnSpc>
                <a:spcPct val="105000"/>
              </a:lnSpc>
              <a:spcAft>
                <a:spcPts val="1500"/>
              </a:spcAft>
            </a:pPr>
            <a:r>
              <a:rPr sz="1650" b="0" i="0">
                <a:solidFill>
                  <a:srgbClr val="1A1F2B"/>
                </a:solidFill>
                <a:latin typeface="Helvetica Neue"/>
              </a:rPr>
              <a:t>It cannot compute explosion energies — C2 is a stated conditional, never a multiplied probability.</a:t>
            </a:r>
          </a:p>
          <a:p>
            <a:pPr algn="l">
              <a:lnSpc>
                <a:spcPct val="105000"/>
              </a:lnSpc>
              <a:spcAft>
                <a:spcPts val="1500"/>
              </a:spcAft>
            </a:pPr>
            <a:r>
              <a:rPr sz="1650" b="0" i="0">
                <a:solidFill>
                  <a:srgbClr val="1A1F2B"/>
                </a:solidFill>
                <a:latin typeface="Helvetica Neue"/>
              </a:rPr>
              <a:t>It cannot resolve whether γ Cygni is associated with Cyg OB2 (P = 7.7% within its ~7 kyr age).</a:t>
            </a:r>
          </a:p>
          <a:p>
            <a:pPr algn="l">
              <a:lnSpc>
                <a:spcPct val="105000"/>
              </a:lnSpc>
              <a:spcAft>
                <a:spcPts val="1500"/>
              </a:spcAft>
            </a:pPr>
            <a:r>
              <a:rPr sz="1650" b="0" i="0">
                <a:solidFill>
                  <a:srgbClr val="1A1F2B"/>
                </a:solidFill>
                <a:latin typeface="Helvetica Neue"/>
              </a:rPr>
              <a:t>It cannot separate Cyg OB2 from the wider Cygnus complex in any existing ²⁶Al measurement — SPI resolution is ~3°.</a:t>
            </a:r>
          </a:p>
          <a:p>
            <a:pPr algn="l">
              <a:lnSpc>
                <a:spcPct val="105000"/>
              </a:lnSpc>
              <a:spcAft>
                <a:spcPts val="1500"/>
              </a:spcAft>
            </a:pPr>
            <a:r>
              <a:rPr sz="1650" b="0" i="0">
                <a:solidFill>
                  <a:srgbClr val="1A1F2B"/>
                </a:solidFill>
                <a:latin typeface="Helvetica Neue"/>
              </a:rPr>
              <a:t>It cannot distinguish high-mass explodability from binary stripping as the origin of the pulsar.</a:t>
            </a:r>
          </a:p>
          <a:p>
            <a:pPr algn="l">
              <a:lnSpc>
                <a:spcPct val="105000"/>
              </a:lnSpc>
              <a:spcAft>
                <a:spcPts val="1500"/>
              </a:spcAft>
            </a:pPr>
            <a:r>
              <a:rPr sz="1650" b="0" i="0">
                <a:solidFill>
                  <a:srgbClr val="1A1F2B"/>
                </a:solidFill>
                <a:latin typeface="Helvetica Neue"/>
              </a:rPr>
              <a:t>Absent remnants are weak evidence: even at a generous 100 kyr visibility the ledger predicts only 0.80 visible remnants.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